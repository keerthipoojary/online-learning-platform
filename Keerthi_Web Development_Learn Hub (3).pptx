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15"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8288000" cy="10287000"/>
  <p:notesSz cx="6858000" cy="9144000"/>
  <p:embeddedFontLst>
    <p:embeddedFont>
      <p:font typeface="Century Gothic" panose="020B0502020202020204" pitchFamily="34" charset="0"/>
      <p:regular r:id="rId31"/>
      <p:bold r:id="rId32"/>
      <p:italic r:id="rId33"/>
      <p:boldItalic r:id="rId34"/>
    </p:embeddedFont>
    <p:embeddedFont>
      <p:font typeface="Times New Roman Bold" panose="02020803070505020304" pitchFamily="18" charset="0"/>
      <p:regular r:id="rId35"/>
      <p:bold r:id="rId36"/>
    </p:embeddedFont>
    <p:embeddedFont>
      <p:font typeface="Wingdings 3" panose="05040102010807070707" pitchFamily="18" charset="2"/>
      <p:regular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318F59-C367-447F-B24F-DA88B7DDB34C}" type="datetimeFigureOut">
              <a:rPr lang="en-IN" smtClean="0"/>
              <a:t>05-06-2026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3D1A56-E701-491B-94BC-BE3F026603F9}" type="slidenum">
              <a:rPr lang="en-IN" smtClean="0"/>
              <a:t>‹#›</a:t>
            </a:fld>
            <a:endParaRPr lang="en-IN" dirty="0"/>
          </a:p>
        </p:txBody>
      </p:sp>
    </p:spTree>
    <p:extLst>
      <p:ext uri="{BB962C8B-B14F-4D97-AF65-F5344CB8AC3E}">
        <p14:creationId xmlns:p14="http://schemas.microsoft.com/office/powerpoint/2010/main" val="235530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3D1A56-E701-491B-94BC-BE3F026603F9}" type="slidenum">
              <a:rPr lang="en-IN" smtClean="0"/>
              <a:t>9</a:t>
            </a:fld>
            <a:endParaRPr lang="en-IN" dirty="0"/>
          </a:p>
        </p:txBody>
      </p:sp>
    </p:spTree>
    <p:extLst>
      <p:ext uri="{BB962C8B-B14F-4D97-AF65-F5344CB8AC3E}">
        <p14:creationId xmlns:p14="http://schemas.microsoft.com/office/powerpoint/2010/main" val="3463706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63D1A56-E701-491B-94BC-BE3F026603F9}" type="slidenum">
              <a:rPr lang="en-IN" smtClean="0"/>
              <a:t>14</a:t>
            </a:fld>
            <a:endParaRPr lang="en-IN" dirty="0"/>
          </a:p>
        </p:txBody>
      </p:sp>
    </p:spTree>
    <p:extLst>
      <p:ext uri="{BB962C8B-B14F-4D97-AF65-F5344CB8AC3E}">
        <p14:creationId xmlns:p14="http://schemas.microsoft.com/office/powerpoint/2010/main" val="21532312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8288000" cy="10287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732433" y="3149600"/>
            <a:ext cx="13238487" cy="4016472"/>
          </a:xfrm>
        </p:spPr>
        <p:txBody>
          <a:bodyPr anchor="b"/>
          <a:lstStyle>
            <a:lvl1pPr>
              <a:defRPr sz="8100"/>
            </a:lvl1pPr>
          </a:lstStyle>
          <a:p>
            <a:r>
              <a:rPr lang="en-US"/>
              <a:t>Click to edit Master title style</a:t>
            </a:r>
            <a:endParaRPr lang="en-US" dirty="0"/>
          </a:p>
        </p:txBody>
      </p:sp>
      <p:sp>
        <p:nvSpPr>
          <p:cNvPr id="3" name="Subtitle 2"/>
          <p:cNvSpPr>
            <a:spLocks noGrp="1"/>
          </p:cNvSpPr>
          <p:nvPr>
            <p:ph type="subTitle" idx="1"/>
          </p:nvPr>
        </p:nvSpPr>
        <p:spPr bwMode="gray">
          <a:xfrm>
            <a:off x="1732433" y="7166070"/>
            <a:ext cx="13238487" cy="1292130"/>
          </a:xfrm>
        </p:spPr>
        <p:txBody>
          <a:bodyPr anchor="t"/>
          <a:lstStyle>
            <a:lvl1pPr marL="0" indent="0" algn="l">
              <a:buNone/>
              <a:defRPr cap="all">
                <a:solidFill>
                  <a:schemeClr val="accent1">
                    <a:lumMod val="60000"/>
                    <a:lumOff val="4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5238477" y="2688337"/>
            <a:ext cx="1485899" cy="457199"/>
          </a:xfrm>
        </p:spPr>
        <p:txBody>
          <a:bodyPr anchor="t"/>
          <a:lstStyle>
            <a:lvl1pPr algn="l">
              <a:defRPr b="0" i="0">
                <a:solidFill>
                  <a:schemeClr val="bg1">
                    <a:alpha val="60000"/>
                  </a:schemeClr>
                </a:solidFill>
              </a:defRPr>
            </a:lvl1p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bwMode="gray">
          <a:xfrm rot="5400000">
            <a:off x="13427964" y="4841749"/>
            <a:ext cx="5789693" cy="457202"/>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5528811" y="443594"/>
            <a:ext cx="1257299" cy="1151531"/>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97120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732432" y="3905250"/>
            <a:ext cx="13238489" cy="512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0133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8288000" cy="10287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2" y="4016468"/>
            <a:ext cx="6526538" cy="3425736"/>
          </a:xfrm>
        </p:spPr>
        <p:txBody>
          <a:bodyPr anchor="ctr"/>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343339" y="4016466"/>
            <a:ext cx="5636318" cy="3425736"/>
          </a:xfrm>
        </p:spPr>
        <p:txBody>
          <a:bodyPr anchor="ctr"/>
          <a:lstStyle>
            <a:lvl1pPr marL="0" indent="0" algn="l">
              <a:buNone/>
              <a:defRPr sz="3000" cap="all">
                <a:solidFill>
                  <a:schemeClr val="accent1">
                    <a:lumMod val="60000"/>
                    <a:lumOff val="4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294782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32431" y="3905251"/>
            <a:ext cx="7237737" cy="512445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13069" y="3905250"/>
            <a:ext cx="7237739" cy="5124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33452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32432" y="3905250"/>
            <a:ext cx="7237736"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732431" y="4769644"/>
            <a:ext cx="7237737" cy="426005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313069" y="3905250"/>
            <a:ext cx="7237739" cy="864393"/>
          </a:xfrm>
        </p:spPr>
        <p:txBody>
          <a:bodyPr anchor="b">
            <a:noAutofit/>
          </a:bodyPr>
          <a:lstStyle>
            <a:lvl1pPr marL="0" indent="0">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313069" y="4769644"/>
            <a:ext cx="7237739" cy="4260059"/>
          </a:xfrm>
        </p:spPr>
        <p:txBody>
          <a:bodyPr>
            <a:normAutofit/>
          </a:bodyPr>
          <a:lstStyle>
            <a:lvl1pPr>
              <a:defRPr sz="2700"/>
            </a:lvl1pPr>
            <a:lvl2pPr>
              <a:defRPr sz="24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82739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732432" y="1460502"/>
            <a:ext cx="13142120" cy="1060446"/>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678556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3326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3" y="1943100"/>
            <a:ext cx="4189737" cy="2400300"/>
          </a:xfrm>
        </p:spPr>
        <p:txBody>
          <a:bodyPr anchor="b"/>
          <a:lstStyle>
            <a:lvl1pPr algn="l">
              <a:defRPr sz="3600" b="0"/>
            </a:lvl1pPr>
          </a:lstStyle>
          <a:p>
            <a:r>
              <a:rPr lang="en-US"/>
              <a:t>Click to edit Master title style</a:t>
            </a:r>
            <a:endParaRPr lang="en-US" dirty="0"/>
          </a:p>
        </p:txBody>
      </p:sp>
      <p:sp>
        <p:nvSpPr>
          <p:cNvPr id="3" name="Content Placeholder 2"/>
          <p:cNvSpPr>
            <a:spLocks noGrp="1"/>
          </p:cNvSpPr>
          <p:nvPr>
            <p:ph idx="1"/>
          </p:nvPr>
        </p:nvSpPr>
        <p:spPr>
          <a:xfrm>
            <a:off x="8671719" y="2171700"/>
            <a:ext cx="7785099" cy="6858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732431" y="4693921"/>
            <a:ext cx="4189737" cy="4343399"/>
          </a:xfrm>
        </p:spPr>
        <p:txBody>
          <a:bodyPr/>
          <a:lstStyle>
            <a:lvl1pPr marL="0" indent="0">
              <a:buNone/>
              <a:defRPr sz="2100">
                <a:solidFill>
                  <a:schemeClr val="accent1">
                    <a:lumMod val="60000"/>
                    <a:lumOff val="40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63613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3" y="2540000"/>
            <a:ext cx="5797701" cy="2603501"/>
          </a:xfrm>
        </p:spPr>
        <p:txBody>
          <a:bodyPr anchor="b">
            <a:normAutofit/>
          </a:bodyPr>
          <a:lstStyle>
            <a:lvl1pPr algn="l">
              <a:defRPr sz="5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821806" y="1714500"/>
            <a:ext cx="4840790" cy="6858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732431" y="5486400"/>
            <a:ext cx="5788818" cy="2057400"/>
          </a:xfrm>
        </p:spPr>
        <p:txBody>
          <a:bodyPr>
            <a:normAutofit/>
          </a:bodyPr>
          <a:lstStyle>
            <a:lvl1pPr marL="0" indent="0">
              <a:buNone/>
              <a:defRPr sz="2100">
                <a:solidFill>
                  <a:schemeClr val="accent1">
                    <a:lumMod val="60000"/>
                    <a:lumOff val="40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62647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2" y="7454891"/>
            <a:ext cx="13238489"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32432" y="1028700"/>
            <a:ext cx="13238489" cy="5143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32431" y="8304998"/>
            <a:ext cx="13238487" cy="740568"/>
          </a:xfrm>
        </p:spPr>
        <p:txBody>
          <a:bodyPr>
            <a:normAutofit/>
          </a:bodyPr>
          <a:lstStyle>
            <a:lvl1pPr marL="0" indent="0">
              <a:buNone/>
              <a:defRPr sz="1800">
                <a:solidFill>
                  <a:schemeClr val="accent1">
                    <a:lumMod val="60000"/>
                    <a:lumOff val="40000"/>
                  </a:schemeClr>
                </a:solidFill>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15336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8288000" cy="10287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23197" y="1595126"/>
            <a:ext cx="13247724" cy="2059479"/>
          </a:xfrm>
        </p:spPr>
        <p:txBody>
          <a:bodyPr/>
          <a:lstStyle>
            <a:lvl1pPr>
              <a:defRPr sz="6000"/>
            </a:lvl1pPr>
          </a:lstStyle>
          <a:p>
            <a:r>
              <a:rPr lang="en-US"/>
              <a:t>Click to edit Master title style</a:t>
            </a:r>
            <a:endParaRPr lang="en-US" dirty="0"/>
          </a:p>
        </p:txBody>
      </p:sp>
      <p:sp>
        <p:nvSpPr>
          <p:cNvPr id="8" name="Text Placeholder 3"/>
          <p:cNvSpPr>
            <a:spLocks noGrp="1"/>
          </p:cNvSpPr>
          <p:nvPr>
            <p:ph type="body" sz="half" idx="2"/>
          </p:nvPr>
        </p:nvSpPr>
        <p:spPr>
          <a:xfrm>
            <a:off x="1732432" y="5314950"/>
            <a:ext cx="13238489" cy="3714750"/>
          </a:xfrm>
        </p:spPr>
        <p:txBody>
          <a:bodyPr anchor="ctr">
            <a:normAutofit/>
          </a:bodyPr>
          <a:lstStyle>
            <a:lvl1pPr marL="0" indent="0">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38182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8288000" cy="10287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1322349" y="911004"/>
            <a:ext cx="1202868" cy="2308324"/>
          </a:xfrm>
          <a:prstGeom prst="rect">
            <a:avLst/>
          </a:prstGeom>
          <a:noFill/>
        </p:spPr>
        <p:txBody>
          <a:bodyPr wrap="square" rtlCol="0">
            <a:spAutoFit/>
          </a:bodyPr>
          <a:lstStyle/>
          <a:p>
            <a:pPr algn="r"/>
            <a:r>
              <a:rPr lang="en-US" sz="14400" b="0" i="0" dirty="0">
                <a:solidFill>
                  <a:schemeClr val="accent1">
                    <a:lumMod val="60000"/>
                    <a:lumOff val="40000"/>
                  </a:schemeClr>
                </a:solidFill>
                <a:latin typeface="Arial"/>
                <a:cs typeface="Arial"/>
              </a:rPr>
              <a:t>“</a:t>
            </a:r>
          </a:p>
        </p:txBody>
      </p:sp>
      <p:sp>
        <p:nvSpPr>
          <p:cNvPr id="13" name="TextBox 12"/>
          <p:cNvSpPr txBox="1"/>
          <p:nvPr/>
        </p:nvSpPr>
        <p:spPr bwMode="gray">
          <a:xfrm>
            <a:off x="14826688" y="3920681"/>
            <a:ext cx="979145" cy="2308324"/>
          </a:xfrm>
          <a:prstGeom prst="rect">
            <a:avLst/>
          </a:prstGeom>
          <a:noFill/>
        </p:spPr>
        <p:txBody>
          <a:bodyPr wrap="square" rtlCol="0">
            <a:spAutoFit/>
          </a:bodyPr>
          <a:lstStyle/>
          <a:p>
            <a:pPr algn="r"/>
            <a:r>
              <a:rPr lang="en-US" sz="144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2372817" y="1473201"/>
            <a:ext cx="12680859" cy="4044948"/>
          </a:xfrm>
        </p:spPr>
        <p:txBody>
          <a:bodyPr/>
          <a:lstStyle>
            <a:lvl1pPr>
              <a:defRPr sz="6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2918918" y="5518149"/>
            <a:ext cx="11596829" cy="513261"/>
          </a:xfrm>
        </p:spPr>
        <p:txBody>
          <a:bodyPr anchor="t">
            <a:normAutofit/>
          </a:bodyPr>
          <a:lstStyle>
            <a:lvl1pPr marL="0" indent="0">
              <a:buNone/>
              <a:defRPr lang="en-US" sz="2100" b="0" i="0" kern="1200" cap="small" dirty="0">
                <a:solidFill>
                  <a:schemeClr val="accent1">
                    <a:lumMod val="60000"/>
                    <a:lumOff val="40000"/>
                  </a:schemeClr>
                </a:solidFill>
                <a:latin typeface="+mn-lt"/>
                <a:ea typeface="+mn-ea"/>
              </a:defRPr>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0" name="Text Placeholder 3"/>
          <p:cNvSpPr>
            <a:spLocks noGrp="1"/>
          </p:cNvSpPr>
          <p:nvPr>
            <p:ph type="body" sz="half" idx="2"/>
          </p:nvPr>
        </p:nvSpPr>
        <p:spPr>
          <a:xfrm>
            <a:off x="1732432" y="7543799"/>
            <a:ext cx="13867346" cy="1496786"/>
          </a:xfrm>
        </p:spPr>
        <p:txBody>
          <a:bodyPr anchor="ctr">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36651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732431" y="3556001"/>
            <a:ext cx="13238490" cy="2733771"/>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732432" y="7537451"/>
            <a:ext cx="13238489" cy="1290600"/>
          </a:xfrm>
        </p:spPr>
        <p:txBody>
          <a:bodyPr anchor="t"/>
          <a:lstStyle>
            <a:lvl1pPr marL="0" indent="0" algn="l">
              <a:buNone/>
              <a:defRPr sz="3000" cap="none">
                <a:solidFill>
                  <a:schemeClr val="accent1">
                    <a:lumMod val="60000"/>
                    <a:lumOff val="4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433384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732432" y="1460502"/>
            <a:ext cx="13238489" cy="1060446"/>
          </a:xfrm>
        </p:spPr>
        <p:txBody>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732431" y="3905253"/>
            <a:ext cx="4712817"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6" name="Text Placeholder 3"/>
          <p:cNvSpPr>
            <a:spLocks noGrp="1"/>
          </p:cNvSpPr>
          <p:nvPr>
            <p:ph type="body" sz="half" idx="15"/>
          </p:nvPr>
        </p:nvSpPr>
        <p:spPr>
          <a:xfrm>
            <a:off x="1732430" y="4769647"/>
            <a:ext cx="4712819" cy="4270940"/>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6769082" y="3905250"/>
            <a:ext cx="4720514"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9" name="Text Placeholder 3"/>
          <p:cNvSpPr>
            <a:spLocks noGrp="1"/>
          </p:cNvSpPr>
          <p:nvPr>
            <p:ph type="body" sz="half" idx="16"/>
          </p:nvPr>
        </p:nvSpPr>
        <p:spPr>
          <a:xfrm>
            <a:off x="6769082" y="4769645"/>
            <a:ext cx="4720514" cy="4270940"/>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1832203" y="3905252"/>
            <a:ext cx="4718595"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Text Placeholder 3"/>
          <p:cNvSpPr>
            <a:spLocks noGrp="1"/>
          </p:cNvSpPr>
          <p:nvPr>
            <p:ph type="body" sz="half" idx="17"/>
          </p:nvPr>
        </p:nvSpPr>
        <p:spPr>
          <a:xfrm>
            <a:off x="11832494" y="4769643"/>
            <a:ext cx="4718304" cy="4270940"/>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17" name="Straight Connector 16"/>
          <p:cNvCxnSpPr/>
          <p:nvPr/>
        </p:nvCxnSpPr>
        <p:spPr>
          <a:xfrm>
            <a:off x="6605956"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11658602"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34890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732432" y="1460502"/>
            <a:ext cx="13238489" cy="1060446"/>
          </a:xfrm>
        </p:spPr>
        <p:txBody>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732431" y="6799266"/>
            <a:ext cx="4575657"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9" name="Picture Placeholder 2"/>
          <p:cNvSpPr>
            <a:spLocks noGrp="1" noChangeAspect="1"/>
          </p:cNvSpPr>
          <p:nvPr>
            <p:ph type="pic" idx="15"/>
          </p:nvPr>
        </p:nvSpPr>
        <p:spPr>
          <a:xfrm>
            <a:off x="2001830" y="3905250"/>
            <a:ext cx="4036863" cy="238726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2" name="Text Placeholder 3"/>
          <p:cNvSpPr>
            <a:spLocks noGrp="1"/>
          </p:cNvSpPr>
          <p:nvPr>
            <p:ph type="body" sz="half" idx="18"/>
          </p:nvPr>
        </p:nvSpPr>
        <p:spPr>
          <a:xfrm>
            <a:off x="1732431" y="7663659"/>
            <a:ext cx="4575657" cy="137692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Text Placeholder 4"/>
          <p:cNvSpPr>
            <a:spLocks noGrp="1"/>
          </p:cNvSpPr>
          <p:nvPr>
            <p:ph type="body" sz="quarter" idx="3"/>
          </p:nvPr>
        </p:nvSpPr>
        <p:spPr>
          <a:xfrm>
            <a:off x="6853298" y="6799267"/>
            <a:ext cx="4575657" cy="864395"/>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1" name="Picture Placeholder 2"/>
          <p:cNvSpPr>
            <a:spLocks noGrp="1" noChangeAspect="1"/>
          </p:cNvSpPr>
          <p:nvPr>
            <p:ph type="pic" idx="21"/>
          </p:nvPr>
        </p:nvSpPr>
        <p:spPr>
          <a:xfrm>
            <a:off x="7122694" y="3905250"/>
            <a:ext cx="4036865" cy="238726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3" name="Text Placeholder 3"/>
          <p:cNvSpPr>
            <a:spLocks noGrp="1"/>
          </p:cNvSpPr>
          <p:nvPr>
            <p:ph type="body" sz="half" idx="19"/>
          </p:nvPr>
        </p:nvSpPr>
        <p:spPr>
          <a:xfrm>
            <a:off x="6855258" y="7663658"/>
            <a:ext cx="4575657" cy="137692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4" name="Text Placeholder 4"/>
          <p:cNvSpPr>
            <a:spLocks noGrp="1"/>
          </p:cNvSpPr>
          <p:nvPr>
            <p:ph type="body" sz="quarter" idx="13"/>
          </p:nvPr>
        </p:nvSpPr>
        <p:spPr>
          <a:xfrm>
            <a:off x="11974163" y="6799268"/>
            <a:ext cx="4576643" cy="864393"/>
          </a:xfrm>
        </p:spPr>
        <p:txBody>
          <a:bodyPr anchor="b">
            <a:noAutofit/>
          </a:bodyPr>
          <a:lstStyle>
            <a:lvl1pPr marL="0" indent="0">
              <a:buNone/>
              <a:defRPr sz="3600" b="0">
                <a:solidFill>
                  <a:schemeClr val="accent1">
                    <a:lumMod val="60000"/>
                    <a:lumOff val="40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2" name="Picture Placeholder 2"/>
          <p:cNvSpPr>
            <a:spLocks noGrp="1" noChangeAspect="1"/>
          </p:cNvSpPr>
          <p:nvPr>
            <p:ph type="pic" idx="22"/>
          </p:nvPr>
        </p:nvSpPr>
        <p:spPr>
          <a:xfrm>
            <a:off x="12244547" y="3905250"/>
            <a:ext cx="4036863" cy="238726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4" name="Text Placeholder 3"/>
          <p:cNvSpPr>
            <a:spLocks noGrp="1"/>
          </p:cNvSpPr>
          <p:nvPr>
            <p:ph type="body" sz="half" idx="20"/>
          </p:nvPr>
        </p:nvSpPr>
        <p:spPr>
          <a:xfrm>
            <a:off x="11974163" y="7663656"/>
            <a:ext cx="4576644" cy="137692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cxnSp>
        <p:nvCxnSpPr>
          <p:cNvPr id="43" name="Straight Connector 42"/>
          <p:cNvCxnSpPr/>
          <p:nvPr/>
        </p:nvCxnSpPr>
        <p:spPr>
          <a:xfrm>
            <a:off x="6608747"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11696703" y="3854450"/>
            <a:ext cx="0" cy="523874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dirty="0"/>
          </a:p>
        </p:txBody>
      </p:sp>
      <p:sp>
        <p:nvSpPr>
          <p:cNvPr id="8" name="Footer Placeholder 7"/>
          <p:cNvSpPr>
            <a:spLocks noGrp="1"/>
          </p:cNvSpPr>
          <p:nvPr>
            <p:ph type="ftr" sz="quarter" idx="11"/>
          </p:nvPr>
        </p:nvSpPr>
        <p:spPr>
          <a:xfrm>
            <a:off x="841667" y="9587758"/>
            <a:ext cx="5466423" cy="457202"/>
          </a:xfrm>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717189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732432" y="1460502"/>
            <a:ext cx="13238489" cy="1060446"/>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732432" y="3905250"/>
            <a:ext cx="13238489" cy="512445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043159" y="9587758"/>
            <a:ext cx="1485899" cy="457199"/>
          </a:xfrm>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7328087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8288000" cy="10287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12877853" y="1917701"/>
            <a:ext cx="2114948" cy="712288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732432" y="1917701"/>
            <a:ext cx="9384038" cy="71228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5979657" y="9587758"/>
            <a:ext cx="1488203" cy="457199"/>
          </a:xfrm>
        </p:spPr>
        <p:txBody>
          <a:bodyPr/>
          <a:lstStyle/>
          <a:p>
            <a:fld id="{1D8BD707-D9CF-40AE-B4C6-C98DA3205C09}" type="datetimeFigureOut">
              <a:rPr lang="en-US" smtClean="0"/>
              <a:pPr/>
              <a:t>6/5/2026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34584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8288000" cy="10287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732432" y="1460502"/>
            <a:ext cx="13142120" cy="1060446"/>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732432" y="3905250"/>
            <a:ext cx="13142120" cy="5124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979657" y="9587758"/>
            <a:ext cx="1485899" cy="457199"/>
          </a:xfrm>
          <a:prstGeom prst="rect">
            <a:avLst/>
          </a:prstGeom>
        </p:spPr>
        <p:txBody>
          <a:bodyPr vert="horz" lIns="91440" tIns="45720" rIns="91440" bIns="45720" rtlCol="0" anchor="ctr"/>
          <a:lstStyle>
            <a:lvl1pPr algn="r">
              <a:defRPr sz="1500" b="1" i="0">
                <a:solidFill>
                  <a:schemeClr val="accent1"/>
                </a:solidFill>
              </a:defRPr>
            </a:lvl1pPr>
          </a:lstStyle>
          <a:p>
            <a:fld id="{1D8BD707-D9CF-40AE-B4C6-C98DA3205C09}" type="datetimeFigureOut">
              <a:rPr lang="en-US" smtClean="0"/>
              <a:pPr/>
              <a:t>6/5/2026</a:t>
            </a:fld>
            <a:endParaRPr lang="en-US" dirty="0"/>
          </a:p>
        </p:txBody>
      </p:sp>
      <p:sp>
        <p:nvSpPr>
          <p:cNvPr id="5" name="Footer Placeholder 4"/>
          <p:cNvSpPr>
            <a:spLocks noGrp="1"/>
          </p:cNvSpPr>
          <p:nvPr>
            <p:ph type="ftr" sz="quarter" idx="3"/>
          </p:nvPr>
        </p:nvSpPr>
        <p:spPr>
          <a:xfrm>
            <a:off x="841666" y="9587758"/>
            <a:ext cx="5789693" cy="457202"/>
          </a:xfrm>
          <a:prstGeom prst="rect">
            <a:avLst/>
          </a:prstGeom>
        </p:spPr>
        <p:txBody>
          <a:bodyPr vert="horz" lIns="91440" tIns="45720" rIns="91440" bIns="45720" rtlCol="0" anchor="ctr"/>
          <a:lstStyle>
            <a:lvl1pPr algn="l">
              <a:defRPr sz="1500" b="1" i="0">
                <a:solidFill>
                  <a:schemeClr val="accent1"/>
                </a:solidFill>
              </a:defRPr>
            </a:lvl1pPr>
          </a:lstStyle>
          <a:p>
            <a:endParaRPr lang="en-US" dirty="0"/>
          </a:p>
        </p:txBody>
      </p:sp>
      <p:sp>
        <p:nvSpPr>
          <p:cNvPr id="21" name="Rectangle 20"/>
          <p:cNvSpPr/>
          <p:nvPr/>
        </p:nvSpPr>
        <p:spPr>
          <a:xfrm>
            <a:off x="15656718" y="0"/>
            <a:ext cx="1028700" cy="17145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5528811" y="443594"/>
            <a:ext cx="1257299" cy="1151531"/>
          </a:xfrm>
          <a:prstGeom prst="rect">
            <a:avLst/>
          </a:prstGeom>
        </p:spPr>
        <p:txBody>
          <a:bodyPr vert="horz" lIns="91440" tIns="45720" rIns="91440" bIns="45720" rtlCol="0" anchor="b"/>
          <a:lstStyle>
            <a:lvl1pPr algn="ctr">
              <a:defRPr sz="4200" b="0" i="0">
                <a:solidFill>
                  <a:schemeClr val="bg1"/>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02606274"/>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 id="2147483826" r:id="rId11"/>
    <p:sldLayoutId id="2147483827" r:id="rId12"/>
    <p:sldLayoutId id="2147483828" r:id="rId13"/>
    <p:sldLayoutId id="2147483829" r:id="rId14"/>
    <p:sldLayoutId id="2147483830" r:id="rId15"/>
    <p:sldLayoutId id="2147483831" r:id="rId16"/>
    <p:sldLayoutId id="2147483832" r:id="rId17"/>
  </p:sldLayoutIdLst>
  <p:txStyles>
    <p:titleStyle>
      <a:lvl1pPr algn="l" defTabSz="685800" rtl="0" eaLnBrk="1" latinLnBrk="0" hangingPunct="1">
        <a:spcBef>
          <a:spcPct val="0"/>
        </a:spcBef>
        <a:buNone/>
        <a:defRPr sz="5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b="0" i="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b="0" i="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b="0" i="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hyperlink" Target="https://vercel.com/" TargetMode="External"/><Relationship Id="rId3" Type="http://schemas.openxmlformats.org/officeDocument/2006/relationships/hyperlink" Target="https://nodejs.org/" TargetMode="External"/><Relationship Id="rId7" Type="http://schemas.openxmlformats.org/officeDocument/2006/relationships/hyperlink" Target="https://www.w3schools.com/" TargetMode="External"/><Relationship Id="rId12" Type="http://schemas.openxmlformats.org/officeDocument/2006/relationships/hyperlink" Target="https://code.visualstudio.com/docs" TargetMode="External"/><Relationship Id="rId2" Type="http://schemas.openxmlformats.org/officeDocument/2006/relationships/hyperlink" Target="https://react.dev/" TargetMode="External"/><Relationship Id="rId1" Type="http://schemas.openxmlformats.org/officeDocument/2006/relationships/slideLayout" Target="../slideLayouts/slideLayout7.xml"/><Relationship Id="rId6" Type="http://schemas.openxmlformats.org/officeDocument/2006/relationships/hyperlink" Target="https://tailwindcss.com/" TargetMode="External"/><Relationship Id="rId11" Type="http://schemas.openxmlformats.org/officeDocument/2006/relationships/hyperlink" Target="https://learning.postman.com/" TargetMode="External"/><Relationship Id="rId5" Type="http://schemas.openxmlformats.org/officeDocument/2006/relationships/hyperlink" Target="https://dev.mysql.com/doc" TargetMode="External"/><Relationship Id="rId10" Type="http://schemas.openxmlformats.org/officeDocument/2006/relationships/hyperlink" Target="https://docs.github.com/" TargetMode="External"/><Relationship Id="rId4" Type="http://schemas.openxmlformats.org/officeDocument/2006/relationships/hyperlink" Target="https://expressjs.com/" TargetMode="External"/><Relationship Id="rId9" Type="http://schemas.openxmlformats.org/officeDocument/2006/relationships/hyperlink" Target="https://render.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6575707" y="569762"/>
            <a:ext cx="3802891" cy="845368"/>
          </a:xfrm>
          <a:custGeom>
            <a:avLst/>
            <a:gdLst/>
            <a:ahLst/>
            <a:cxnLst/>
            <a:rect l="l" t="t" r="r" b="b"/>
            <a:pathLst>
              <a:path w="3802891" h="845368">
                <a:moveTo>
                  <a:pt x="0" y="0"/>
                </a:moveTo>
                <a:lnTo>
                  <a:pt x="3802890" y="0"/>
                </a:lnTo>
                <a:lnTo>
                  <a:pt x="3802890" y="845367"/>
                </a:lnTo>
                <a:lnTo>
                  <a:pt x="0" y="845367"/>
                </a:lnTo>
                <a:lnTo>
                  <a:pt x="0" y="0"/>
                </a:lnTo>
                <a:close/>
              </a:path>
            </a:pathLst>
          </a:custGeom>
          <a:blipFill>
            <a:blip r:embed="rId2"/>
            <a:stretch>
              <a:fillRect t="-4898" b="-4898"/>
            </a:stretch>
          </a:blipFill>
        </p:spPr>
        <p:txBody>
          <a:bodyPr/>
          <a:lstStyle/>
          <a:p>
            <a:endParaRPr lang="en-IN"/>
          </a:p>
        </p:txBody>
      </p:sp>
      <p:sp>
        <p:nvSpPr>
          <p:cNvPr id="3" name="TextBox 3"/>
          <p:cNvSpPr txBox="1"/>
          <p:nvPr/>
        </p:nvSpPr>
        <p:spPr>
          <a:xfrm>
            <a:off x="237100" y="1602982"/>
            <a:ext cx="17767821" cy="1799590"/>
          </a:xfrm>
          <a:prstGeom prst="rect">
            <a:avLst/>
          </a:prstGeom>
        </p:spPr>
        <p:txBody>
          <a:bodyPr lIns="0" tIns="0" rIns="0" bIns="0" rtlCol="0" anchor="t">
            <a:spAutoFit/>
          </a:bodyPr>
          <a:lstStyle/>
          <a:p>
            <a:pPr algn="ctr">
              <a:lnSpc>
                <a:spcPts val="4759"/>
              </a:lnSpc>
              <a:spcBef>
                <a:spcPct val="0"/>
              </a:spcBef>
            </a:pPr>
            <a:r>
              <a:rPr lang="en-US" sz="3399" dirty="0">
                <a:solidFill>
                  <a:srgbClr val="000000"/>
                </a:solidFill>
                <a:latin typeface="Times New Roman"/>
                <a:ea typeface="Times New Roman"/>
                <a:cs typeface="Times New Roman"/>
                <a:sym typeface="Times New Roman"/>
              </a:rPr>
              <a:t>Department of Computer Science and Engineering </a:t>
            </a:r>
          </a:p>
          <a:p>
            <a:pPr algn="ctr">
              <a:lnSpc>
                <a:spcPts val="4759"/>
              </a:lnSpc>
              <a:spcBef>
                <a:spcPct val="0"/>
              </a:spcBef>
            </a:pPr>
            <a:r>
              <a:rPr lang="en-US" sz="3399" dirty="0">
                <a:solidFill>
                  <a:srgbClr val="000000"/>
                </a:solidFill>
                <a:latin typeface="Times New Roman"/>
                <a:ea typeface="Times New Roman"/>
                <a:cs typeface="Times New Roman"/>
                <a:sym typeface="Times New Roman"/>
              </a:rPr>
              <a:t>TG </a:t>
            </a:r>
          </a:p>
          <a:p>
            <a:pPr algn="ctr">
              <a:lnSpc>
                <a:spcPts val="4759"/>
              </a:lnSpc>
              <a:spcBef>
                <a:spcPct val="0"/>
              </a:spcBef>
            </a:pPr>
            <a:r>
              <a:rPr lang="en-US" sz="3399" dirty="0">
                <a:solidFill>
                  <a:srgbClr val="000000"/>
                </a:solidFill>
                <a:latin typeface="Times New Roman"/>
                <a:ea typeface="Times New Roman"/>
                <a:cs typeface="Times New Roman"/>
                <a:sym typeface="Times New Roman"/>
              </a:rPr>
              <a:t>BANGALORE</a:t>
            </a:r>
          </a:p>
        </p:txBody>
      </p:sp>
      <p:sp>
        <p:nvSpPr>
          <p:cNvPr id="4" name="TextBox 4"/>
          <p:cNvSpPr txBox="1"/>
          <p:nvPr/>
        </p:nvSpPr>
        <p:spPr>
          <a:xfrm>
            <a:off x="237100" y="4500880"/>
            <a:ext cx="18050900" cy="1199515"/>
          </a:xfrm>
          <a:prstGeom prst="rect">
            <a:avLst/>
          </a:prstGeom>
        </p:spPr>
        <p:txBody>
          <a:bodyPr lIns="0" tIns="0" rIns="0" bIns="0" rtlCol="0" anchor="t">
            <a:spAutoFit/>
          </a:bodyPr>
          <a:lstStyle/>
          <a:p>
            <a:pPr algn="ctr">
              <a:lnSpc>
                <a:spcPts val="4759"/>
              </a:lnSpc>
              <a:spcBef>
                <a:spcPct val="0"/>
              </a:spcBef>
            </a:pPr>
            <a:r>
              <a:rPr lang="en-US" sz="3399" dirty="0">
                <a:solidFill>
                  <a:srgbClr val="000000"/>
                </a:solidFill>
                <a:latin typeface="Times New Roman"/>
                <a:ea typeface="Times New Roman"/>
                <a:cs typeface="Times New Roman"/>
                <a:sym typeface="Times New Roman"/>
              </a:rPr>
              <a:t>MAJOR PROJECT </a:t>
            </a:r>
          </a:p>
          <a:p>
            <a:pPr algn="ctr">
              <a:lnSpc>
                <a:spcPts val="4759"/>
              </a:lnSpc>
              <a:spcBef>
                <a:spcPct val="0"/>
              </a:spcBef>
            </a:pPr>
            <a:r>
              <a:rPr lang="en-US" sz="3399" dirty="0">
                <a:solidFill>
                  <a:srgbClr val="000000"/>
                </a:solidFill>
                <a:latin typeface="Times New Roman"/>
                <a:ea typeface="Times New Roman"/>
                <a:cs typeface="Times New Roman"/>
                <a:sym typeface="Times New Roman"/>
              </a:rPr>
              <a:t>LEARNHUB ONLINE LEARNING PLATFORM</a:t>
            </a:r>
          </a:p>
        </p:txBody>
      </p:sp>
      <p:sp>
        <p:nvSpPr>
          <p:cNvPr id="5" name="TextBox 5"/>
          <p:cNvSpPr txBox="1"/>
          <p:nvPr/>
        </p:nvSpPr>
        <p:spPr>
          <a:xfrm>
            <a:off x="1028700" y="7283828"/>
            <a:ext cx="5922764" cy="563809"/>
          </a:xfrm>
          <a:prstGeom prst="rect">
            <a:avLst/>
          </a:prstGeom>
        </p:spPr>
        <p:txBody>
          <a:bodyPr lIns="0" tIns="0" rIns="0" bIns="0" rtlCol="0" anchor="t">
            <a:spAutoFit/>
          </a:bodyPr>
          <a:lstStyle/>
          <a:p>
            <a:pPr algn="ctr">
              <a:lnSpc>
                <a:spcPts val="4759"/>
              </a:lnSpc>
              <a:spcBef>
                <a:spcPct val="0"/>
              </a:spcBef>
            </a:pPr>
            <a:r>
              <a:rPr lang="en-US" sz="3399" dirty="0">
                <a:solidFill>
                  <a:srgbClr val="000000"/>
                </a:solidFill>
                <a:latin typeface="Times New Roman"/>
                <a:ea typeface="Times New Roman"/>
                <a:cs typeface="Times New Roman"/>
                <a:sym typeface="Times New Roman"/>
              </a:rPr>
              <a:t>Keerthi (TG02CS0151) </a:t>
            </a:r>
          </a:p>
        </p:txBody>
      </p:sp>
      <p:sp>
        <p:nvSpPr>
          <p:cNvPr id="6" name="TextBox 6"/>
          <p:cNvSpPr txBox="1"/>
          <p:nvPr/>
        </p:nvSpPr>
        <p:spPr>
          <a:xfrm>
            <a:off x="13431438" y="7283828"/>
            <a:ext cx="3256362" cy="563809"/>
          </a:xfrm>
          <a:prstGeom prst="rect">
            <a:avLst/>
          </a:prstGeom>
        </p:spPr>
        <p:txBody>
          <a:bodyPr wrap="square" lIns="0" tIns="0" rIns="0" bIns="0" rtlCol="0" anchor="t">
            <a:spAutoFit/>
          </a:bodyPr>
          <a:lstStyle/>
          <a:p>
            <a:pPr algn="ctr">
              <a:lnSpc>
                <a:spcPts val="4759"/>
              </a:lnSpc>
              <a:spcBef>
                <a:spcPct val="0"/>
              </a:spcBef>
            </a:pPr>
            <a:r>
              <a:rPr lang="en-US" sz="3399" dirty="0">
                <a:solidFill>
                  <a:srgbClr val="000000"/>
                </a:solidFill>
                <a:latin typeface="Times New Roman"/>
                <a:ea typeface="Times New Roman"/>
                <a:cs typeface="Times New Roman"/>
                <a:sym typeface="Times New Roman"/>
              </a:rPr>
              <a:t>Guide:Mr.Likhith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219200" y="876300"/>
            <a:ext cx="13528318" cy="8980792"/>
          </a:xfrm>
          <a:prstGeom prst="rect">
            <a:avLst/>
          </a:prstGeom>
        </p:spPr>
        <p:txBody>
          <a:bodyPr wrap="square" lIns="0" tIns="0" rIns="0" bIns="0" rtlCol="0" anchor="t">
            <a:spAutoFit/>
          </a:bodyPr>
          <a:lstStyle/>
          <a:p>
            <a:pPr algn="just">
              <a:lnSpc>
                <a:spcPts val="3667"/>
              </a:lnSpc>
            </a:pPr>
            <a:r>
              <a:rPr lang="en-US" sz="2799" spc="221" dirty="0">
                <a:solidFill>
                  <a:srgbClr val="000000"/>
                </a:solidFill>
                <a:latin typeface="Times New Roman"/>
                <a:ea typeface="Times New Roman"/>
                <a:cs typeface="Times New Roman"/>
                <a:sym typeface="Times New Roman"/>
              </a:rPr>
              <a:t>•Abstract</a:t>
            </a:r>
          </a:p>
          <a:p>
            <a:pPr algn="just">
              <a:lnSpc>
                <a:spcPts val="3667"/>
              </a:lnSpc>
            </a:pPr>
            <a:r>
              <a:rPr lang="en-US" sz="2799" spc="221" dirty="0">
                <a:solidFill>
                  <a:srgbClr val="000000"/>
                </a:solidFill>
                <a:latin typeface="Times New Roman"/>
                <a:ea typeface="Times New Roman"/>
                <a:cs typeface="Times New Roman"/>
                <a:sym typeface="Times New Roman"/>
              </a:rPr>
              <a:t>•Introduction </a:t>
            </a:r>
          </a:p>
          <a:p>
            <a:pPr algn="just">
              <a:lnSpc>
                <a:spcPts val="3667"/>
              </a:lnSpc>
            </a:pPr>
            <a:r>
              <a:rPr lang="en-US" sz="2799" spc="221" dirty="0">
                <a:solidFill>
                  <a:srgbClr val="000000"/>
                </a:solidFill>
                <a:latin typeface="Times New Roman"/>
                <a:ea typeface="Times New Roman"/>
                <a:cs typeface="Times New Roman"/>
                <a:sym typeface="Times New Roman"/>
              </a:rPr>
              <a:t>•Objective </a:t>
            </a:r>
          </a:p>
          <a:p>
            <a:pPr algn="just">
              <a:lnSpc>
                <a:spcPts val="3667"/>
              </a:lnSpc>
            </a:pPr>
            <a:r>
              <a:rPr lang="en-US" sz="2799" spc="221" dirty="0">
                <a:solidFill>
                  <a:srgbClr val="000000"/>
                </a:solidFill>
                <a:latin typeface="Times New Roman"/>
                <a:ea typeface="Times New Roman"/>
                <a:cs typeface="Times New Roman"/>
                <a:sym typeface="Times New Roman"/>
              </a:rPr>
              <a:t>•Problem Definition</a:t>
            </a:r>
          </a:p>
          <a:p>
            <a:pPr algn="just">
              <a:lnSpc>
                <a:spcPts val="3667"/>
              </a:lnSpc>
            </a:pPr>
            <a:r>
              <a:rPr lang="en-US" sz="2799" spc="221" dirty="0">
                <a:solidFill>
                  <a:srgbClr val="000000"/>
                </a:solidFill>
                <a:latin typeface="Times New Roman"/>
                <a:ea typeface="Times New Roman"/>
                <a:cs typeface="Times New Roman"/>
                <a:sym typeface="Times New Roman"/>
              </a:rPr>
              <a:t>•Scope </a:t>
            </a:r>
          </a:p>
          <a:p>
            <a:pPr algn="just">
              <a:lnSpc>
                <a:spcPts val="3667"/>
              </a:lnSpc>
            </a:pPr>
            <a:r>
              <a:rPr lang="en-US" sz="2799" spc="221" dirty="0">
                <a:solidFill>
                  <a:srgbClr val="000000"/>
                </a:solidFill>
                <a:latin typeface="Times New Roman"/>
                <a:ea typeface="Times New Roman"/>
                <a:cs typeface="Times New Roman"/>
                <a:sym typeface="Times New Roman"/>
              </a:rPr>
              <a:t>•Methodology </a:t>
            </a:r>
          </a:p>
          <a:p>
            <a:pPr algn="just">
              <a:lnSpc>
                <a:spcPts val="3667"/>
              </a:lnSpc>
            </a:pPr>
            <a:r>
              <a:rPr lang="en-US" sz="2799" spc="221" dirty="0">
                <a:solidFill>
                  <a:srgbClr val="000000"/>
                </a:solidFill>
                <a:latin typeface="Times New Roman"/>
                <a:ea typeface="Times New Roman"/>
                <a:cs typeface="Times New Roman"/>
                <a:sym typeface="Times New Roman"/>
              </a:rPr>
              <a:t>•Experimental Setup </a:t>
            </a:r>
          </a:p>
          <a:p>
            <a:pPr algn="just">
              <a:lnSpc>
                <a:spcPts val="3667"/>
              </a:lnSpc>
            </a:pPr>
            <a:r>
              <a:rPr lang="en-US" sz="2799" spc="221" dirty="0">
                <a:solidFill>
                  <a:srgbClr val="000000"/>
                </a:solidFill>
                <a:latin typeface="Times New Roman"/>
                <a:ea typeface="Times New Roman"/>
                <a:cs typeface="Times New Roman"/>
                <a:sym typeface="Times New Roman"/>
              </a:rPr>
              <a:t>•Results or Findings</a:t>
            </a:r>
          </a:p>
          <a:p>
            <a:pPr algn="just">
              <a:lnSpc>
                <a:spcPts val="3667"/>
              </a:lnSpc>
            </a:pPr>
            <a:r>
              <a:rPr lang="en-US" sz="2799" spc="221" dirty="0">
                <a:solidFill>
                  <a:srgbClr val="000000"/>
                </a:solidFill>
                <a:latin typeface="Times New Roman"/>
                <a:ea typeface="Times New Roman"/>
                <a:cs typeface="Times New Roman"/>
                <a:sym typeface="Times New Roman"/>
              </a:rPr>
              <a:t>•Summary Table</a:t>
            </a:r>
          </a:p>
          <a:p>
            <a:pPr algn="just">
              <a:lnSpc>
                <a:spcPts val="3667"/>
              </a:lnSpc>
            </a:pPr>
            <a:r>
              <a:rPr lang="en-US" sz="2799" spc="221" dirty="0">
                <a:solidFill>
                  <a:srgbClr val="000000"/>
                </a:solidFill>
                <a:latin typeface="Times New Roman"/>
                <a:ea typeface="Times New Roman"/>
                <a:cs typeface="Times New Roman"/>
                <a:sym typeface="Times New Roman"/>
              </a:rPr>
              <a:t>•Discussion</a:t>
            </a:r>
          </a:p>
          <a:p>
            <a:pPr algn="just">
              <a:lnSpc>
                <a:spcPts val="3667"/>
              </a:lnSpc>
            </a:pPr>
            <a:r>
              <a:rPr lang="en-US" sz="2799" spc="221" dirty="0">
                <a:solidFill>
                  <a:srgbClr val="000000"/>
                </a:solidFill>
                <a:latin typeface="Times New Roman"/>
                <a:ea typeface="Times New Roman"/>
                <a:cs typeface="Times New Roman"/>
                <a:sym typeface="Times New Roman"/>
              </a:rPr>
              <a:t>•Proposed System </a:t>
            </a:r>
          </a:p>
          <a:p>
            <a:pPr algn="just">
              <a:lnSpc>
                <a:spcPts val="3667"/>
              </a:lnSpc>
            </a:pPr>
            <a:r>
              <a:rPr lang="en-US" sz="2799" spc="221" dirty="0">
                <a:solidFill>
                  <a:srgbClr val="000000"/>
                </a:solidFill>
                <a:latin typeface="Times New Roman"/>
                <a:ea typeface="Times New Roman"/>
                <a:cs typeface="Times New Roman"/>
                <a:sym typeface="Times New Roman"/>
              </a:rPr>
              <a:t>•Feasibility Study </a:t>
            </a:r>
          </a:p>
          <a:p>
            <a:pPr algn="just">
              <a:lnSpc>
                <a:spcPts val="3667"/>
              </a:lnSpc>
            </a:pPr>
            <a:r>
              <a:rPr lang="en-US" sz="2799" spc="221" dirty="0">
                <a:solidFill>
                  <a:srgbClr val="000000"/>
                </a:solidFill>
                <a:latin typeface="Times New Roman"/>
                <a:ea typeface="Times New Roman"/>
                <a:cs typeface="Times New Roman"/>
                <a:sym typeface="Times New Roman"/>
              </a:rPr>
              <a:t>•Workflow</a:t>
            </a:r>
          </a:p>
          <a:p>
            <a:pPr algn="just">
              <a:lnSpc>
                <a:spcPts val="3667"/>
              </a:lnSpc>
            </a:pPr>
            <a:r>
              <a:rPr lang="en-US" sz="2799" spc="221" dirty="0">
                <a:solidFill>
                  <a:srgbClr val="000000"/>
                </a:solidFill>
                <a:latin typeface="Times New Roman"/>
                <a:ea typeface="Times New Roman"/>
                <a:cs typeface="Times New Roman"/>
                <a:sym typeface="Times New Roman"/>
              </a:rPr>
              <a:t>•Methods and Techniques Used</a:t>
            </a:r>
          </a:p>
          <a:p>
            <a:pPr algn="just">
              <a:lnSpc>
                <a:spcPts val="3667"/>
              </a:lnSpc>
            </a:pPr>
            <a:r>
              <a:rPr lang="en-US" sz="2799" spc="221" dirty="0">
                <a:solidFill>
                  <a:srgbClr val="000000"/>
                </a:solidFill>
                <a:latin typeface="Times New Roman"/>
                <a:ea typeface="Times New Roman"/>
                <a:cs typeface="Times New Roman"/>
                <a:sym typeface="Times New Roman"/>
              </a:rPr>
              <a:t>•Progress in Project</a:t>
            </a:r>
          </a:p>
          <a:p>
            <a:pPr algn="just">
              <a:lnSpc>
                <a:spcPts val="3667"/>
              </a:lnSpc>
            </a:pPr>
            <a:r>
              <a:rPr lang="en-US" sz="2799" spc="221" dirty="0">
                <a:solidFill>
                  <a:srgbClr val="000000"/>
                </a:solidFill>
                <a:latin typeface="Times New Roman"/>
                <a:ea typeface="Times New Roman"/>
                <a:cs typeface="Times New Roman"/>
                <a:sym typeface="Times New Roman"/>
              </a:rPr>
              <a:t>•Results</a:t>
            </a:r>
          </a:p>
          <a:p>
            <a:pPr algn="just">
              <a:lnSpc>
                <a:spcPts val="3667"/>
              </a:lnSpc>
            </a:pPr>
            <a:r>
              <a:rPr lang="en-US" sz="2799" spc="221" dirty="0">
                <a:solidFill>
                  <a:srgbClr val="000000"/>
                </a:solidFill>
                <a:latin typeface="Times New Roman"/>
                <a:ea typeface="Times New Roman"/>
                <a:cs typeface="Times New Roman"/>
                <a:sym typeface="Times New Roman"/>
              </a:rPr>
              <a:t>•Conclusion</a:t>
            </a:r>
          </a:p>
          <a:p>
            <a:pPr algn="just">
              <a:lnSpc>
                <a:spcPts val="3667"/>
              </a:lnSpc>
            </a:pPr>
            <a:r>
              <a:rPr lang="en-US" sz="2799" spc="221" dirty="0">
                <a:solidFill>
                  <a:srgbClr val="000000"/>
                </a:solidFill>
                <a:latin typeface="Times New Roman"/>
                <a:ea typeface="Times New Roman"/>
                <a:cs typeface="Times New Roman"/>
                <a:sym typeface="Times New Roman"/>
              </a:rPr>
              <a:t>•References</a:t>
            </a:r>
          </a:p>
          <a:p>
            <a:pPr algn="just">
              <a:lnSpc>
                <a:spcPts val="3667"/>
              </a:lnSpc>
            </a:pPr>
            <a:endParaRPr lang="en-US" sz="2799" spc="221"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699658" y="904875"/>
            <a:ext cx="4196942"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ABSTRACT</a:t>
            </a:r>
          </a:p>
        </p:txBody>
      </p:sp>
      <p:sp>
        <p:nvSpPr>
          <p:cNvPr id="3" name="TextBox 3"/>
          <p:cNvSpPr txBox="1"/>
          <p:nvPr/>
        </p:nvSpPr>
        <p:spPr>
          <a:xfrm>
            <a:off x="1085850" y="1658671"/>
            <a:ext cx="16116300" cy="7678512"/>
          </a:xfrm>
          <a:prstGeom prst="rect">
            <a:avLst/>
          </a:prstGeom>
        </p:spPr>
        <p:txBody>
          <a:bodyPr wrap="square" lIns="0" tIns="0" rIns="0" bIns="0" rtlCol="0" anchor="t">
            <a:spAutoFit/>
          </a:bodyPr>
          <a:lstStyle/>
          <a:p>
            <a:pPr>
              <a:lnSpc>
                <a:spcPct val="150000"/>
              </a:lnSpc>
            </a:pPr>
            <a:r>
              <a:rPr lang="en-US" sz="2800" b="1" dirty="0">
                <a:latin typeface="Times New Roman" panose="02020603050405020304" pitchFamily="18" charset="0"/>
                <a:cs typeface="Times New Roman" panose="02020603050405020304" pitchFamily="18" charset="0"/>
              </a:rPr>
              <a:t>Learn Hub</a:t>
            </a:r>
            <a:r>
              <a:rPr lang="en-US" sz="2800" dirty="0">
                <a:latin typeface="Times New Roman" panose="02020603050405020304" pitchFamily="18" charset="0"/>
                <a:cs typeface="Times New Roman" panose="02020603050405020304" pitchFamily="18" charset="0"/>
              </a:rPr>
              <a:t> is a comprehensive full-stack online learning platform developed using </a:t>
            </a:r>
            <a:r>
              <a:rPr lang="en-US" sz="2800" b="1" dirty="0">
                <a:latin typeface="Times New Roman" panose="02020603050405020304" pitchFamily="18" charset="0"/>
                <a:cs typeface="Times New Roman" panose="02020603050405020304" pitchFamily="18" charset="0"/>
              </a:rPr>
              <a:t>React.js</a:t>
            </a:r>
            <a:r>
              <a:rPr lang="en-US" sz="2800" dirty="0">
                <a:latin typeface="Times New Roman" panose="02020603050405020304" pitchFamily="18" charset="0"/>
                <a:cs typeface="Times New Roman" panose="02020603050405020304" pitchFamily="18" charset="0"/>
              </a:rPr>
              <a:t> for frontend, </a:t>
            </a:r>
            <a:r>
              <a:rPr lang="en-US" sz="2800" b="1" dirty="0">
                <a:latin typeface="Times New Roman" panose="02020603050405020304" pitchFamily="18" charset="0"/>
                <a:cs typeface="Times New Roman" panose="02020603050405020304" pitchFamily="18" charset="0"/>
              </a:rPr>
              <a:t>Node.js with Express.js</a:t>
            </a:r>
            <a:r>
              <a:rPr lang="en-US" sz="2800" dirty="0">
                <a:latin typeface="Times New Roman" panose="02020603050405020304" pitchFamily="18" charset="0"/>
                <a:cs typeface="Times New Roman" panose="02020603050405020304" pitchFamily="18" charset="0"/>
              </a:rPr>
              <a:t> for backend, and </a:t>
            </a:r>
            <a:r>
              <a:rPr lang="en-US" sz="2800" b="1" dirty="0">
                <a:latin typeface="Times New Roman" panose="02020603050405020304" pitchFamily="18" charset="0"/>
                <a:cs typeface="Times New Roman" panose="02020603050405020304" pitchFamily="18" charset="0"/>
              </a:rPr>
              <a:t>MySQL</a:t>
            </a:r>
            <a:r>
              <a:rPr lang="en-US" sz="2800" dirty="0">
                <a:latin typeface="Times New Roman" panose="02020603050405020304" pitchFamily="18" charset="0"/>
                <a:cs typeface="Times New Roman" panose="02020603050405020304" pitchFamily="18" charset="0"/>
              </a:rPr>
              <a:t> for database management. The platform provides secure user authentication, responsive UI design, role-based access control, and easy access to educational resources through an interactive and user-friendly interface.</a:t>
            </a:r>
          </a:p>
          <a:p>
            <a:pPr>
              <a:lnSpc>
                <a:spcPct val="150000"/>
              </a:lnSpc>
            </a:pPr>
            <a:r>
              <a:rPr lang="en-US" sz="2800" dirty="0">
                <a:latin typeface="Times New Roman" panose="02020603050405020304" pitchFamily="18" charset="0"/>
                <a:cs typeface="Times New Roman" panose="02020603050405020304" pitchFamily="18" charset="0"/>
              </a:rPr>
              <a:t>The platform allows students to enroll in courses, watch video lessons, attempt quizzes, track learning progress, add courses . Instructors can create and manage courses, upload videos, create quizzes, and view student performance. Administrators have complete control to manage users, approve/reject courses, manage categories, remove inappropriate content, view analytics dashboards, and handle complaints.</a:t>
            </a:r>
          </a:p>
          <a:p>
            <a:pPr>
              <a:lnSpc>
                <a:spcPct val="150000"/>
              </a:lnSpc>
            </a:pPr>
            <a:r>
              <a:rPr lang="en-US" sz="2800" dirty="0">
                <a:latin typeface="Times New Roman" panose="02020603050405020304" pitchFamily="18" charset="0"/>
                <a:cs typeface="Times New Roman" panose="02020603050405020304" pitchFamily="18" charset="0"/>
              </a:rPr>
              <a:t>The project demonstrates practical implementation of full-stack web development concepts including frontend-backend integration, REST API communication, MySQL database management, JWT authentication, role-based authorization, and deployment using Verel (frontend) and Render (backend).</a:t>
            </a:r>
          </a:p>
          <a:p>
            <a:pPr>
              <a:lnSpc>
                <a:spcPct val="150000"/>
              </a:lnSpc>
            </a:pPr>
            <a:r>
              <a:rPr lang="en-US" sz="2800" dirty="0">
                <a:latin typeface="Times New Roman" panose="02020603050405020304" pitchFamily="18" charset="0"/>
                <a:cs typeface="Times New Roman" panose="02020603050405020304" pitchFamily="18"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121140" y="247649"/>
            <a:ext cx="4572099" cy="781051"/>
          </a:xfrm>
          <a:prstGeom prst="rect">
            <a:avLst/>
          </a:prstGeom>
        </p:spPr>
        <p:txBody>
          <a:bodyPr lIns="0" tIns="0" rIns="0" bIns="0" rtlCol="0" anchor="t">
            <a:spAutoFit/>
          </a:bodyPr>
          <a:lstStyle/>
          <a:p>
            <a:pPr algn="ctr">
              <a:lnSpc>
                <a:spcPts val="6299"/>
              </a:lnSpc>
              <a:spcBef>
                <a:spcPct val="0"/>
              </a:spcBef>
            </a:pPr>
            <a:r>
              <a:rPr lang="en-US" sz="4499" b="1" dirty="0">
                <a:solidFill>
                  <a:srgbClr val="000000"/>
                </a:solidFill>
                <a:latin typeface="Times New Roman Bold"/>
                <a:ea typeface="Times New Roman Bold"/>
                <a:cs typeface="Times New Roman Bold"/>
                <a:sym typeface="Times New Roman Bold"/>
              </a:rPr>
              <a:t>INTRODUCTION</a:t>
            </a:r>
          </a:p>
        </p:txBody>
      </p:sp>
      <p:sp>
        <p:nvSpPr>
          <p:cNvPr id="3" name="TextBox 3"/>
          <p:cNvSpPr txBox="1"/>
          <p:nvPr/>
        </p:nvSpPr>
        <p:spPr>
          <a:xfrm>
            <a:off x="914400" y="1181100"/>
            <a:ext cx="16535400" cy="9986708"/>
          </a:xfrm>
          <a:prstGeom prst="rect">
            <a:avLst/>
          </a:prstGeom>
        </p:spPr>
        <p:txBody>
          <a:bodyPr wrap="square" lIns="0" tIns="0" rIns="0" bIns="0" rtlCol="0" anchor="t">
            <a:spAutoFit/>
          </a:bodyPr>
          <a:lstStyle/>
          <a:p>
            <a:pPr>
              <a:lnSpc>
                <a:spcPct val="150000"/>
              </a:lnSpc>
            </a:pPr>
            <a:r>
              <a:rPr lang="en-US" sz="2400" dirty="0">
                <a:latin typeface="Times New Roman" panose="02020603050405020304" pitchFamily="18" charset="0"/>
                <a:cs typeface="Times New Roman" panose="02020603050405020304" pitchFamily="18" charset="0"/>
              </a:rPr>
              <a:t>Online learning platforms have become essential in modern education, especially after the global shift toward digital learning. Traditional learning systems often lack flexibility, accessibility, and interactive features that modern students require.</a:t>
            </a:r>
          </a:p>
          <a:p>
            <a:pPr>
              <a:lnSpc>
                <a:spcPct val="150000"/>
              </a:lnSpc>
            </a:pPr>
            <a:r>
              <a:rPr lang="en-US" sz="2400" b="1" dirty="0">
                <a:latin typeface="Times New Roman" panose="02020603050405020304" pitchFamily="18" charset="0"/>
                <a:cs typeface="Times New Roman" panose="02020603050405020304" pitchFamily="18" charset="0"/>
              </a:rPr>
              <a:t>Key Challenges in Traditional Systems: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accessibility across devices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real-time interaction between students and instructors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centralized platform for course management</a:t>
            </a:r>
          </a:p>
          <a:p>
            <a:pPr>
              <a:lnSpc>
                <a:spcPct val="150000"/>
              </a:lnSpc>
            </a:pPr>
            <a:r>
              <a:rPr lang="en-US" sz="2400" b="1" dirty="0">
                <a:latin typeface="Times New Roman" panose="02020603050405020304" pitchFamily="18" charset="0"/>
                <a:cs typeface="Times New Roman" panose="02020603050405020304" pitchFamily="18" charset="0"/>
              </a:rPr>
              <a:t>Learn Hub - The Solution:</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organized and interactive learning environment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Includes features like authentication, dashboards, and course access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Designed using React.js + Node.js + Express.js + MySQL stack</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Responsive interface supports mobile, tablet, and desktop devices</a:t>
            </a:r>
          </a:p>
          <a:p>
            <a:pPr>
              <a:lnSpc>
                <a:spcPct val="150000"/>
              </a:lnSpc>
            </a:pPr>
            <a:r>
              <a:rPr lang="en-US" sz="2400" b="1" dirty="0">
                <a:latin typeface="Times New Roman" panose="02020603050405020304" pitchFamily="18" charset="0"/>
                <a:cs typeface="Times New Roman" panose="02020603050405020304" pitchFamily="18" charset="0"/>
              </a:rPr>
              <a:t>Benefits:</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users access educational content anytime, anywhere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smooth navigation and better user experience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practical understanding of full-stack web development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Supports digital learning and skill development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Makes learning resources easily accessible and manageable</a:t>
            </a:r>
          </a:p>
          <a:p>
            <a:pPr algn="l">
              <a:lnSpc>
                <a:spcPct val="150000"/>
              </a:lnSpc>
            </a:pPr>
            <a:endParaRPr lang="en-US" sz="2799"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7093372" y="581025"/>
            <a:ext cx="3117427" cy="741229"/>
          </a:xfrm>
          <a:prstGeom prst="rect">
            <a:avLst/>
          </a:prstGeom>
        </p:spPr>
        <p:txBody>
          <a:bodyPr wrap="square" lIns="0" tIns="0" rIns="0" bIns="0" rtlCol="0" anchor="t">
            <a:spAutoFit/>
          </a:bodyPr>
          <a:lstStyle/>
          <a:p>
            <a:pPr algn="ctr">
              <a:lnSpc>
                <a:spcPts val="6299"/>
              </a:lnSpc>
              <a:spcBef>
                <a:spcPct val="0"/>
              </a:spcBef>
            </a:pPr>
            <a:r>
              <a:rPr lang="en-US" sz="4500" b="1" dirty="0">
                <a:solidFill>
                  <a:srgbClr val="000000"/>
                </a:solidFill>
                <a:latin typeface="Times New Roman Bold"/>
                <a:ea typeface="Times New Roman Bold"/>
                <a:cs typeface="Times New Roman Bold"/>
                <a:sym typeface="Times New Roman Bold"/>
              </a:rPr>
              <a:t>Objectives</a:t>
            </a:r>
          </a:p>
        </p:txBody>
      </p:sp>
      <p:sp>
        <p:nvSpPr>
          <p:cNvPr id="3" name="TextBox 3"/>
          <p:cNvSpPr txBox="1"/>
          <p:nvPr/>
        </p:nvSpPr>
        <p:spPr>
          <a:xfrm>
            <a:off x="1028700" y="2449582"/>
            <a:ext cx="16284421" cy="7325082"/>
          </a:xfrm>
          <a:prstGeom prst="rect">
            <a:avLst/>
          </a:prstGeom>
        </p:spPr>
        <p:txBody>
          <a:bodyPr lIns="0" tIns="0" rIns="0" bIns="0" rtlCol="0" anchor="t">
            <a:spAutoFit/>
          </a:bodyPr>
          <a:lstStyle/>
          <a:p>
            <a:r>
              <a:rPr lang="en-US" sz="2800" b="1" dirty="0">
                <a:latin typeface="Times New Roman" panose="02020603050405020304" pitchFamily="18" charset="0"/>
                <a:cs typeface="Times New Roman" panose="02020603050405020304" pitchFamily="18" charset="0"/>
              </a:rPr>
              <a:t>Primary Objectives: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develop a responsive online learning platform using React.js, Node.js, Express.js, and MySQL</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provide secure login and registration functionality with JWT authentication</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create role-based dashboards for Students, Instructors, and Admins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organize educational content effectively with course categorization</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Secondary Objectives: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improve accessibility for learners on different devices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integrate frontend, backend, and database operations seamlessly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secure authentication using JWT and crypt</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gain practical knowledge of full-stack web development</a:t>
            </a: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Enhanced Features Objectives: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AI-based course recommendation system</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deploy the application using Verel and Render</a:t>
            </a:r>
          </a:p>
          <a:p>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5943600" y="952500"/>
            <a:ext cx="5963481"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Problem Definition</a:t>
            </a:r>
          </a:p>
        </p:txBody>
      </p:sp>
      <p:sp>
        <p:nvSpPr>
          <p:cNvPr id="3" name="TextBox 3"/>
          <p:cNvSpPr txBox="1"/>
          <p:nvPr/>
        </p:nvSpPr>
        <p:spPr>
          <a:xfrm>
            <a:off x="1028700" y="2715658"/>
            <a:ext cx="16587670" cy="6412781"/>
          </a:xfrm>
          <a:prstGeom prst="rect">
            <a:avLst/>
          </a:prstGeom>
        </p:spPr>
        <p:txBody>
          <a:bodyPr lIns="0" tIns="0" rIns="0" bIns="0" rtlCol="0" anchor="t">
            <a:spAutoFit/>
          </a:bodyPr>
          <a:lstStyle/>
          <a:p>
            <a:pPr>
              <a:lnSpc>
                <a:spcPts val="4200"/>
              </a:lnSpc>
              <a:spcBef>
                <a:spcPct val="0"/>
              </a:spcBef>
            </a:pPr>
            <a:r>
              <a:rPr lang="en-US" sz="2800" dirty="0">
                <a:latin typeface="Times New Roman" panose="02020603050405020304" pitchFamily="18" charset="0"/>
                <a:cs typeface="Times New Roman" panose="02020603050405020304" pitchFamily="18" charset="0"/>
              </a:rPr>
              <a:t>Many traditional learning systems lack proper organization, responsiveness, and interactive features. Students often face difficulties in accessing learning resources through a single platform.</a:t>
            </a:r>
            <a:r>
              <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rPr>
              <a:t>.</a:t>
            </a:r>
          </a:p>
          <a:p>
            <a:pPr>
              <a:lnSpc>
                <a:spcPts val="4200"/>
              </a:lnSpc>
              <a:spcBef>
                <a:spcPct val="0"/>
              </a:spcBef>
            </a:pP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nSpc>
                <a:spcPts val="4200"/>
              </a:lnSpc>
              <a:spcBef>
                <a:spcPct val="0"/>
              </a:spcBef>
            </a:pPr>
            <a:r>
              <a:rPr lang="en-IN" sz="2800" b="1" dirty="0">
                <a:latin typeface="Times New Roman" panose="02020603050405020304" pitchFamily="18" charset="0"/>
                <a:cs typeface="Times New Roman" panose="02020603050405020304" pitchFamily="18" charset="0"/>
              </a:rPr>
              <a:t>Key problems identified include:</a:t>
            </a:r>
          </a:p>
          <a:p>
            <a:pPr marL="457200" indent="-457200">
              <a:lnSpc>
                <a:spcPts val="4200"/>
              </a:lnSpc>
              <a:spcBef>
                <a:spcPct val="0"/>
              </a:spcBef>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Accessibility Issues</a:t>
            </a:r>
          </a:p>
          <a:p>
            <a:pPr marL="457200" indent="-457200">
              <a:lnSpc>
                <a:spcPts val="4200"/>
              </a:lnSpc>
              <a:spcBef>
                <a:spcPct val="0"/>
              </a:spcBef>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Security Concerns</a:t>
            </a:r>
          </a:p>
          <a:p>
            <a:pPr marL="457200" indent="-457200">
              <a:lnSpc>
                <a:spcPts val="4200"/>
              </a:lnSpc>
              <a:spcBef>
                <a:spcPct val="0"/>
              </a:spcBef>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Progress Tracking</a:t>
            </a:r>
          </a:p>
          <a:p>
            <a:pPr>
              <a:lnSpc>
                <a:spcPts val="4200"/>
              </a:lnSpc>
              <a:spcBef>
                <a:spcPct val="0"/>
              </a:spcBef>
            </a:pPr>
            <a:endParaRPr lang="en-IN" sz="2800" dirty="0">
              <a:latin typeface="Times New Roman" panose="02020603050405020304" pitchFamily="18" charset="0"/>
              <a:cs typeface="Times New Roman" panose="02020603050405020304" pitchFamily="18" charset="0"/>
            </a:endParaRPr>
          </a:p>
          <a:p>
            <a:pPr>
              <a:lnSpc>
                <a:spcPts val="4200"/>
              </a:lnSpc>
              <a:spcBef>
                <a:spcPct val="0"/>
              </a:spcBef>
            </a:pPr>
            <a:r>
              <a:rPr lang="en-US" sz="2800" b="1" dirty="0">
                <a:latin typeface="Times New Roman" panose="02020603050405020304" pitchFamily="18" charset="0"/>
                <a:cs typeface="Times New Roman" panose="02020603050405020304" pitchFamily="18" charset="0"/>
              </a:rPr>
              <a:t>Our Solution:</a:t>
            </a:r>
            <a:r>
              <a:rPr lang="en-US" sz="2800" dirty="0">
                <a:latin typeface="Times New Roman" panose="02020603050405020304" pitchFamily="18" charset="0"/>
                <a:cs typeface="Times New Roman" panose="02020603050405020304" pitchFamily="18" charset="0"/>
              </a:rPr>
              <a:t> Learn Hub solves these problems by providing a centralized, responsive, and secure application with role-based access, real-time features, and comprehensive course management.</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nSpc>
                <a:spcPts val="4200"/>
              </a:lnSpc>
              <a:spcBef>
                <a:spcPct val="0"/>
              </a:spcBef>
            </a:pP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a:lnSpc>
                <a:spcPts val="4200"/>
              </a:lnSpc>
              <a:spcBef>
                <a:spcPct val="0"/>
              </a:spcBef>
            </a:pP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206141" y="558482"/>
            <a:ext cx="6519259"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Scope of the Project</a:t>
            </a:r>
          </a:p>
        </p:txBody>
      </p:sp>
      <p:sp>
        <p:nvSpPr>
          <p:cNvPr id="3" name="TextBox 3"/>
          <p:cNvSpPr txBox="1"/>
          <p:nvPr/>
        </p:nvSpPr>
        <p:spPr>
          <a:xfrm>
            <a:off x="1028700" y="2284426"/>
            <a:ext cx="15892675" cy="6385851"/>
          </a:xfrm>
          <a:prstGeom prst="rect">
            <a:avLst/>
          </a:prstGeom>
        </p:spPr>
        <p:txBody>
          <a:bodyPr lIns="0" tIns="0" rIns="0" bIns="0" rtlCol="0" anchor="t">
            <a:spAutoFit/>
          </a:bodyPr>
          <a:lstStyle/>
          <a:p>
            <a:pPr>
              <a:lnSpc>
                <a:spcPct val="150000"/>
              </a:lnSpc>
            </a:pPr>
            <a:r>
              <a:rPr lang="en-US" sz="2800" b="1" dirty="0">
                <a:latin typeface="Times New Roman" panose="02020603050405020304" pitchFamily="18" charset="0"/>
                <a:cs typeface="Times New Roman" panose="02020603050405020304" pitchFamily="18" charset="0"/>
              </a:rPr>
              <a:t>Core Features (Completed)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registration and login system with JWT authentication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Role-based authorization (Student, Instructor, Admin)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Course access and management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Video learning modules for students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Online quizzes for knowledge assessment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Responsive dashboard for better user experience</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Database integration using MySQL</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REST API communication between frontend and backend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Course enrollment system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320058" y="558482"/>
            <a:ext cx="4571008"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Technologies Used</a:t>
            </a:r>
          </a:p>
        </p:txBody>
      </p:sp>
      <p:sp>
        <p:nvSpPr>
          <p:cNvPr id="3" name="TextBox 3"/>
          <p:cNvSpPr txBox="1"/>
          <p:nvPr/>
        </p:nvSpPr>
        <p:spPr>
          <a:xfrm>
            <a:off x="1091627" y="1624052"/>
            <a:ext cx="15027869" cy="6924973"/>
          </a:xfrm>
          <a:prstGeom prst="rect">
            <a:avLst/>
          </a:prstGeom>
        </p:spPr>
        <p:txBody>
          <a:bodyPr lIns="0" tIns="0" rIns="0" bIns="0" rtlCol="0" anchor="t">
            <a:spAutoFit/>
          </a:bodyPr>
          <a:lstStyle/>
          <a:p>
            <a:pPr algn="l"/>
            <a:r>
              <a:rPr lang="en-US" sz="3000" b="1" dirty="0">
                <a:solidFill>
                  <a:srgbClr val="000000"/>
                </a:solidFill>
                <a:latin typeface="Times New Roman Bold"/>
                <a:ea typeface="Times New Roman Bold"/>
                <a:cs typeface="Times New Roman Bold"/>
                <a:sym typeface="Times New Roman Bold"/>
              </a:rPr>
              <a:t>Frontend</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React.js</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Tailwind CSS</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React Router DOM</a:t>
            </a:r>
          </a:p>
          <a:p>
            <a:pPr algn="l"/>
            <a:r>
              <a:rPr lang="en-US" sz="3000" b="1" dirty="0">
                <a:solidFill>
                  <a:srgbClr val="000000"/>
                </a:solidFill>
                <a:latin typeface="Times New Roman Bold"/>
                <a:ea typeface="Times New Roman Bold"/>
                <a:cs typeface="Times New Roman Bold"/>
                <a:sym typeface="Times New Roman Bold"/>
              </a:rPr>
              <a:t>Backend</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Node.js</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Express.js</a:t>
            </a:r>
          </a:p>
          <a:p>
            <a:pPr algn="l"/>
            <a:r>
              <a:rPr lang="en-US" sz="3000" b="1" dirty="0">
                <a:solidFill>
                  <a:srgbClr val="000000"/>
                </a:solidFill>
                <a:latin typeface="Times New Roman Bold"/>
                <a:ea typeface="Times New Roman Bold"/>
                <a:cs typeface="Times New Roman Bold"/>
                <a:sym typeface="Times New Roman Bold"/>
              </a:rPr>
              <a:t>Database</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MySQL</a:t>
            </a:r>
          </a:p>
          <a:p>
            <a:pPr algn="l"/>
            <a:r>
              <a:rPr lang="en-US" sz="3000" b="1" dirty="0">
                <a:solidFill>
                  <a:srgbClr val="000000"/>
                </a:solidFill>
                <a:latin typeface="Times New Roman Bold"/>
                <a:ea typeface="Times New Roman Bold"/>
                <a:cs typeface="Times New Roman Bold"/>
                <a:sym typeface="Times New Roman Bold"/>
              </a:rPr>
              <a:t>Tools</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VS Code</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GitHub</a:t>
            </a:r>
          </a:p>
          <a:p>
            <a:pPr algn="l"/>
            <a:r>
              <a:rPr lang="en-US" sz="3000" b="1" dirty="0">
                <a:solidFill>
                  <a:srgbClr val="000000"/>
                </a:solidFill>
                <a:latin typeface="Times New Roman Bold"/>
                <a:ea typeface="Times New Roman Bold"/>
                <a:cs typeface="Times New Roman Bold"/>
                <a:sym typeface="Times New Roman Bold"/>
              </a:rPr>
              <a:t>Deployment</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Verel</a:t>
            </a:r>
          </a:p>
          <a:p>
            <a:pPr marL="647702" lvl="1" indent="-323851" algn="l">
              <a:buFont typeface="Arial"/>
              <a:buChar char="•"/>
            </a:pPr>
            <a:r>
              <a:rPr lang="en-US" sz="3000" dirty="0">
                <a:solidFill>
                  <a:srgbClr val="000000"/>
                </a:solidFill>
                <a:latin typeface="Times New Roman"/>
                <a:ea typeface="Times New Roman"/>
                <a:cs typeface="Times New Roman"/>
                <a:sym typeface="Times New Roman"/>
              </a:rPr>
              <a:t>Render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7080120" y="212089"/>
            <a:ext cx="4121279"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Methodology</a:t>
            </a:r>
          </a:p>
        </p:txBody>
      </p:sp>
      <p:sp>
        <p:nvSpPr>
          <p:cNvPr id="3" name="TextBox 3"/>
          <p:cNvSpPr txBox="1"/>
          <p:nvPr/>
        </p:nvSpPr>
        <p:spPr>
          <a:xfrm>
            <a:off x="609600" y="1257300"/>
            <a:ext cx="15842365" cy="9048631"/>
          </a:xfrm>
          <a:prstGeom prst="rect">
            <a:avLst/>
          </a:prstGeom>
        </p:spPr>
        <p:txBody>
          <a:bodyPr lIns="0" tIns="0" rIns="0" bIns="0" rtlCol="0" anchor="t">
            <a:spAutoFit/>
          </a:bodyPr>
          <a:lstStyle/>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Analysed requirements for Student, Instructor, and Admin roles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Identified core and enhanced features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Prepared SRS document</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Designed system architecture and database schema</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Created ER diagram and DFD diagrams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Planned API endpoints and data flow</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Designed MySQL database with 12+ tables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Established table relationships and indexing</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Created REST APIs using Node.js and Express.js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Implemented JWT authentication middleware</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Built controllers for courses, quizzes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Developed responsive UI using React.js and Tailwind CSS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Implemented state management using React Context</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Implemented protected routes for role-based access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Connected frontend with backend APIs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Performed unit and integration testing</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Tested responsiveness across devices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Deployed frontend on Verel</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Deployed backend on Render</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Set up environment variables</a:t>
            </a: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28700" y="1600680"/>
            <a:ext cx="6465040" cy="7298528"/>
          </a:xfrm>
          <a:custGeom>
            <a:avLst/>
            <a:gdLst/>
            <a:ahLst/>
            <a:cxnLst/>
            <a:rect l="l" t="t" r="r" b="b"/>
            <a:pathLst>
              <a:path w="6465040" h="7298528">
                <a:moveTo>
                  <a:pt x="0" y="0"/>
                </a:moveTo>
                <a:lnTo>
                  <a:pt x="6465040" y="0"/>
                </a:lnTo>
                <a:lnTo>
                  <a:pt x="6465040" y="7298527"/>
                </a:lnTo>
                <a:lnTo>
                  <a:pt x="0" y="7298527"/>
                </a:lnTo>
                <a:lnTo>
                  <a:pt x="0" y="0"/>
                </a:lnTo>
                <a:close/>
              </a:path>
            </a:pathLst>
          </a:custGeom>
          <a:blipFill>
            <a:blip r:embed="rId2"/>
            <a:stretch>
              <a:fillRect l="-1502" r="-1502"/>
            </a:stretch>
          </a:blipFill>
        </p:spPr>
        <p:txBody>
          <a:bodyPr/>
          <a:lstStyle/>
          <a:p>
            <a:endParaRPr lang="en-IN" dirty="0"/>
          </a:p>
        </p:txBody>
      </p:sp>
      <p:sp>
        <p:nvSpPr>
          <p:cNvPr id="3" name="TextBox 3"/>
          <p:cNvSpPr txBox="1"/>
          <p:nvPr/>
        </p:nvSpPr>
        <p:spPr>
          <a:xfrm>
            <a:off x="6105956" y="212089"/>
            <a:ext cx="6162244"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System Architecture</a:t>
            </a:r>
          </a:p>
        </p:txBody>
      </p:sp>
      <p:sp>
        <p:nvSpPr>
          <p:cNvPr id="4" name="TextBox 4"/>
          <p:cNvSpPr txBox="1"/>
          <p:nvPr/>
        </p:nvSpPr>
        <p:spPr>
          <a:xfrm>
            <a:off x="7493740" y="1253807"/>
            <a:ext cx="10589945" cy="7452935"/>
          </a:xfrm>
          <a:prstGeom prst="rect">
            <a:avLst/>
          </a:prstGeom>
        </p:spPr>
        <p:txBody>
          <a:bodyPr lIns="0" tIns="0" rIns="0" bIns="0" rtlCol="0" anchor="t">
            <a:spAutoFit/>
          </a:bodyPr>
          <a:lstStyle/>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Users interact with the application through the frontend interface developed using React.js and Tailwind CSS.</a:t>
            </a:r>
          </a:p>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The frontend sends API requests to the backend server.</a:t>
            </a:r>
          </a:p>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The backend developed using Node.js and Express.js handles authentication, course management, quizzes, and videos.</a:t>
            </a:r>
          </a:p>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MongoDB stores user details, course information, quiz results, and learning data.</a:t>
            </a:r>
          </a:p>
          <a:p>
            <a:pPr marL="655552" lvl="1" indent="-327776" algn="l">
              <a:lnSpc>
                <a:spcPts val="6649"/>
              </a:lnSpc>
              <a:buFont typeface="Arial"/>
              <a:buChar char="•"/>
            </a:pPr>
            <a:r>
              <a:rPr lang="en-US" sz="3036" dirty="0">
                <a:solidFill>
                  <a:srgbClr val="000000"/>
                </a:solidFill>
                <a:latin typeface="Times New Roman"/>
                <a:ea typeface="Times New Roman"/>
                <a:cs typeface="Times New Roman"/>
                <a:sym typeface="Times New Roman"/>
              </a:rPr>
              <a:t>The frontend is deployed on Verel and the backend is hosted on Render.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63503" y="1324610"/>
            <a:ext cx="9144000" cy="8324523"/>
          </a:xfrm>
          <a:prstGeom prst="rect">
            <a:avLst/>
          </a:prstGeom>
        </p:spPr>
        <p:txBody>
          <a:bodyPr lIns="0" tIns="0" rIns="0" bIns="0" rtlCol="0" anchor="t">
            <a:spAutoFit/>
          </a:bodyPr>
          <a:lstStyle/>
          <a:p>
            <a:pPr algn="l">
              <a:lnSpc>
                <a:spcPct val="150000"/>
              </a:lnSpc>
            </a:pPr>
            <a:r>
              <a:rPr lang="en-US" sz="3799" b="1" spc="-113" dirty="0">
                <a:solidFill>
                  <a:srgbClr val="000000"/>
                </a:solidFill>
                <a:latin typeface="Times New Roman Bold"/>
                <a:ea typeface="Times New Roman Bold"/>
                <a:cs typeface="Times New Roman Bold"/>
                <a:sym typeface="Times New Roman Bold"/>
              </a:rPr>
              <a:t>User Features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Register and login securely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Browse all available courses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View detailed course information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Enroll in free or paid courses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Watch video lessons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Attempt quizzes and get instant results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Track learning progress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View personal dashboard with analytics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Update profile information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Change password</a:t>
            </a:r>
          </a:p>
          <a:p>
            <a:pPr>
              <a:lnSpc>
                <a:spcPct val="150000"/>
              </a:lnSpc>
            </a:pPr>
            <a:br>
              <a:rPr lang="en-US" dirty="0"/>
            </a:br>
            <a:endParaRPr lang="en-US" sz="2799" spc="-83" dirty="0">
              <a:solidFill>
                <a:srgbClr val="000000"/>
              </a:solidFill>
              <a:latin typeface="Times New Roman"/>
              <a:ea typeface="Times New Roman"/>
              <a:cs typeface="Times New Roman"/>
              <a:sym typeface="Times New Roman"/>
            </a:endParaRPr>
          </a:p>
        </p:txBody>
      </p:sp>
      <p:sp>
        <p:nvSpPr>
          <p:cNvPr id="3" name="TextBox 3"/>
          <p:cNvSpPr txBox="1"/>
          <p:nvPr/>
        </p:nvSpPr>
        <p:spPr>
          <a:xfrm>
            <a:off x="6163863" y="212089"/>
            <a:ext cx="4458316"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Features</a:t>
            </a:r>
          </a:p>
        </p:txBody>
      </p:sp>
      <p:sp>
        <p:nvSpPr>
          <p:cNvPr id="4" name="TextBox 4"/>
          <p:cNvSpPr txBox="1"/>
          <p:nvPr/>
        </p:nvSpPr>
        <p:spPr>
          <a:xfrm>
            <a:off x="9139084" y="665455"/>
            <a:ext cx="8761426" cy="10263515"/>
          </a:xfrm>
          <a:prstGeom prst="rect">
            <a:avLst/>
          </a:prstGeom>
        </p:spPr>
        <p:txBody>
          <a:bodyPr lIns="0" tIns="0" rIns="0" bIns="0" rtlCol="0" anchor="t">
            <a:spAutoFit/>
          </a:bodyPr>
          <a:lstStyle/>
          <a:p>
            <a:pPr algn="l">
              <a:lnSpc>
                <a:spcPct val="150000"/>
              </a:lnSpc>
            </a:pPr>
            <a:r>
              <a:rPr lang="en-US" sz="3799" b="1" dirty="0">
                <a:solidFill>
                  <a:srgbClr val="000000"/>
                </a:solidFill>
                <a:latin typeface="Times New Roman Bold"/>
                <a:ea typeface="Times New Roman Bold"/>
                <a:cs typeface="Times New Roman Bold"/>
                <a:sym typeface="Times New Roman Bold"/>
              </a:rPr>
              <a:t>System Features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JWT-based secure authentication system</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Role-based access control (Student, Instructor, Admin)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REST API integration for frontend-backend communication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MySQL database connectivity for data storage</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Secure password encryption using crypt</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Protected routes for authorized access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Error handling and validation middleware</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File upload support for course thumbnails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SQL injection prevention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Cross-origin resource sharing (CORS) enabled</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Environment variable configuration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Deployment on Verel and Render</a:t>
            </a:r>
          </a:p>
          <a:p>
            <a:pPr>
              <a:lnSpc>
                <a:spcPct val="150000"/>
              </a:lnSpc>
            </a:pPr>
            <a:br>
              <a:rPr lang="en-IN" dirty="0"/>
            </a:br>
            <a:endParaRPr lang="en-US" sz="2799"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66800" y="1669256"/>
            <a:ext cx="14023635" cy="8324843"/>
          </a:xfrm>
          <a:prstGeom prst="rect">
            <a:avLst/>
          </a:prstGeom>
        </p:spPr>
        <p:txBody>
          <a:bodyPr lIns="0" tIns="0" rIns="0" bIns="0" rtlCol="0" anchor="t">
            <a:spAutoFit/>
          </a:bodyPr>
          <a:lstStyle/>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React.js and Tailwind CSS used for frontend development</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Node.js and Express.js used for backend API creation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MySQL used for database management</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JWT authentication implemented for secure login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Video learning modules integrated into the system</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Quiz functionality added for student assessment</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Rating and review system for courses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Application tested on desktop and mobile devices</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Browser compatibility checked using Chrome, Firefox, and Edge</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API testing performed using Postman</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Frontend deployed on Verel platform</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Backend server hosted on Render platform</a:t>
            </a:r>
          </a:p>
          <a:p>
            <a:pPr marL="457200" indent="-45720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MySQL database hosted on cloud (Aiven/Cleaver)</a:t>
            </a:r>
          </a:p>
        </p:txBody>
      </p:sp>
      <p:sp>
        <p:nvSpPr>
          <p:cNvPr id="3" name="TextBox 3"/>
          <p:cNvSpPr txBox="1"/>
          <p:nvPr/>
        </p:nvSpPr>
        <p:spPr>
          <a:xfrm>
            <a:off x="6341534" y="558482"/>
            <a:ext cx="5698065"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Experimental Setup</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5713780" y="558482"/>
            <a:ext cx="5324870" cy="753796"/>
          </a:xfrm>
          <a:prstGeom prst="rect">
            <a:avLst/>
          </a:prstGeom>
        </p:spPr>
        <p:txBody>
          <a:bodyPr wrap="square"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 Results / Findings</a:t>
            </a:r>
          </a:p>
        </p:txBody>
      </p:sp>
      <p:sp>
        <p:nvSpPr>
          <p:cNvPr id="3" name="TextBox 3"/>
          <p:cNvSpPr txBox="1"/>
          <p:nvPr/>
        </p:nvSpPr>
        <p:spPr>
          <a:xfrm>
            <a:off x="488522" y="1574301"/>
            <a:ext cx="14827678" cy="8509381"/>
          </a:xfrm>
          <a:prstGeom prst="rect">
            <a:avLst/>
          </a:prstGeom>
        </p:spPr>
        <p:txBody>
          <a:bodyPr wrap="square" lIns="0" tIns="0" rIns="0" bIns="0" rtlCol="0" anchor="t">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Responsive online learning platform developed successfully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Secure login and authentication system implemented using JWT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Role-based dashboards created for Students, Instructors, and Admins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Smooth frontend and backend communication achieved using REST APIs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Video learning modules working efficiently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Quiz functionality successfully integrated with auto-grading</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database storing user, course, and quiz data properly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Fast loading speed and smooth navigation observed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User-friendly dashboard improved learning experience</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Application tested successfully on desktop, tablet, and mobile devices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Browser compatibility verified on Chrome, Firefox, and Edge</a:t>
            </a:r>
          </a:p>
          <a:p>
            <a:pPr>
              <a:lnSpc>
                <a:spcPct val="150000"/>
              </a:lnSpc>
            </a:pPr>
            <a:endParaRPr lang="en-US" dirty="0"/>
          </a:p>
          <a:p>
            <a:pPr>
              <a:lnSpc>
                <a:spcPct val="150000"/>
              </a:lnSpc>
            </a:pPr>
            <a:br>
              <a:rPr lang="en-US" dirty="0"/>
            </a:br>
            <a:endParaRPr lang="en-US" sz="2799" dirty="0">
              <a:solidFill>
                <a:srgbClr val="00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6220623" y="558482"/>
            <a:ext cx="3976390"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Summary Table</a:t>
            </a:r>
          </a:p>
        </p:txBody>
      </p:sp>
      <p:graphicFrame>
        <p:nvGraphicFramePr>
          <p:cNvPr id="4" name="Table 3">
            <a:extLst>
              <a:ext uri="{FF2B5EF4-FFF2-40B4-BE49-F238E27FC236}">
                <a16:creationId xmlns:a16="http://schemas.microsoft.com/office/drawing/2014/main" id="{23D79264-1E18-62F4-1382-4BB0ABAD77F8}"/>
              </a:ext>
            </a:extLst>
          </p:cNvPr>
          <p:cNvGraphicFramePr>
            <a:graphicFrameLocks noGrp="1"/>
          </p:cNvGraphicFramePr>
          <p:nvPr>
            <p:extLst>
              <p:ext uri="{D42A27DB-BD31-4B8C-83A1-F6EECF244321}">
                <p14:modId xmlns:p14="http://schemas.microsoft.com/office/powerpoint/2010/main" val="519635706"/>
              </p:ext>
            </p:extLst>
          </p:nvPr>
        </p:nvGraphicFramePr>
        <p:xfrm>
          <a:off x="1066800" y="1866900"/>
          <a:ext cx="14454206" cy="7391400"/>
        </p:xfrm>
        <a:graphic>
          <a:graphicData uri="http://schemas.openxmlformats.org/drawingml/2006/table">
            <a:tbl>
              <a:tblPr firstRow="1" bandRow="1">
                <a:tableStyleId>{5940675A-B579-460E-94D1-54222C63F5DA}</a:tableStyleId>
              </a:tblPr>
              <a:tblGrid>
                <a:gridCol w="3546475">
                  <a:extLst>
                    <a:ext uri="{9D8B030D-6E8A-4147-A177-3AD203B41FA5}">
                      <a16:colId xmlns:a16="http://schemas.microsoft.com/office/drawing/2014/main" val="1513934016"/>
                    </a:ext>
                  </a:extLst>
                </a:gridCol>
                <a:gridCol w="5929331">
                  <a:extLst>
                    <a:ext uri="{9D8B030D-6E8A-4147-A177-3AD203B41FA5}">
                      <a16:colId xmlns:a16="http://schemas.microsoft.com/office/drawing/2014/main" val="2395292384"/>
                    </a:ext>
                  </a:extLst>
                </a:gridCol>
                <a:gridCol w="4978400">
                  <a:extLst>
                    <a:ext uri="{9D8B030D-6E8A-4147-A177-3AD203B41FA5}">
                      <a16:colId xmlns:a16="http://schemas.microsoft.com/office/drawing/2014/main" val="4147909827"/>
                    </a:ext>
                  </a:extLst>
                </a:gridCol>
              </a:tblGrid>
              <a:tr h="617922">
                <a:tc>
                  <a:txBody>
                    <a:bodyPr/>
                    <a:lstStyle/>
                    <a:p>
                      <a:pPr algn="l">
                        <a:lnSpc>
                          <a:spcPts val="1875"/>
                        </a:lnSpc>
                        <a:buNone/>
                      </a:pPr>
                      <a:r>
                        <a:rPr lang="en-IN" sz="2800" b="0" dirty="0">
                          <a:effectLst/>
                          <a:latin typeface="Times New Roman" panose="02020603050405020304" pitchFamily="18" charset="0"/>
                          <a:cs typeface="Times New Roman" panose="02020603050405020304" pitchFamily="18" charset="0"/>
                        </a:rPr>
                        <a:t>Feature</a:t>
                      </a:r>
                    </a:p>
                  </a:txBody>
                  <a:tcPr marR="121920" marT="76200" marB="76200" anchor="ctr"/>
                </a:tc>
                <a:tc>
                  <a:txBody>
                    <a:bodyPr/>
                    <a:lstStyle/>
                    <a:p>
                      <a:pPr algn="l">
                        <a:lnSpc>
                          <a:spcPts val="1875"/>
                        </a:lnSpc>
                        <a:buNone/>
                      </a:pPr>
                      <a:r>
                        <a:rPr lang="en-IN" sz="2800" b="0" dirty="0">
                          <a:effectLst/>
                          <a:latin typeface="Times New Roman" panose="02020603050405020304" pitchFamily="18" charset="0"/>
                          <a:cs typeface="Times New Roman" panose="02020603050405020304" pitchFamily="18" charset="0"/>
                        </a:rPr>
                        <a:t>Description</a:t>
                      </a:r>
                    </a:p>
                  </a:txBody>
                  <a:tcPr marL="121920" marR="121920" marT="76200" marB="76200" anchor="ctr"/>
                </a:tc>
                <a:tc>
                  <a:txBody>
                    <a:bodyPr/>
                    <a:lstStyle/>
                    <a:p>
                      <a:pPr algn="l">
                        <a:lnSpc>
                          <a:spcPts val="1875"/>
                        </a:lnSpc>
                        <a:buNone/>
                      </a:pPr>
                      <a:r>
                        <a:rPr lang="en-IN" sz="2800" b="0" dirty="0">
                          <a:effectLst/>
                          <a:latin typeface="Times New Roman" panose="02020603050405020304" pitchFamily="18" charset="0"/>
                          <a:cs typeface="Times New Roman" panose="02020603050405020304" pitchFamily="18" charset="0"/>
                        </a:rPr>
                        <a:t>Result</a:t>
                      </a:r>
                    </a:p>
                  </a:txBody>
                  <a:tcPr marL="121920" marR="121920" marT="76200" marB="76200" anchor="ctr"/>
                </a:tc>
                <a:extLst>
                  <a:ext uri="{0D108BD9-81ED-4DB2-BD59-A6C34878D82A}">
                    <a16:rowId xmlns:a16="http://schemas.microsoft.com/office/drawing/2014/main" val="2088944765"/>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User Authentication</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Secure login and registration using JWT</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Improved security</a:t>
                      </a:r>
                    </a:p>
                  </a:txBody>
                  <a:tcPr marL="121920" marT="76200" marB="76200" anchor="ctr"/>
                </a:tc>
                <a:extLst>
                  <a:ext uri="{0D108BD9-81ED-4DB2-BD59-A6C34878D82A}">
                    <a16:rowId xmlns:a16="http://schemas.microsoft.com/office/drawing/2014/main" val="517097689"/>
                  </a:ext>
                </a:extLst>
              </a:tr>
              <a:tr h="915090">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Role-based</a:t>
                      </a:r>
                    </a:p>
                    <a:p>
                      <a:pPr>
                        <a:lnSpc>
                          <a:spcPts val="1875"/>
                        </a:lnSpc>
                        <a:buNone/>
                      </a:pPr>
                      <a:r>
                        <a:rPr lang="en-IN" sz="2800" b="0" dirty="0">
                          <a:effectLst/>
                          <a:latin typeface="Times New Roman" panose="02020603050405020304" pitchFamily="18" charset="0"/>
                          <a:cs typeface="Times New Roman" panose="02020603050405020304" pitchFamily="18" charset="0"/>
                        </a:rPr>
                        <a:t> Dashboards</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Separate dashboards for Student, Instructor, Admin</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Better access control</a:t>
                      </a:r>
                    </a:p>
                  </a:txBody>
                  <a:tcPr marL="121920" marT="76200" marB="76200" anchor="ctr"/>
                </a:tc>
                <a:extLst>
                  <a:ext uri="{0D108BD9-81ED-4DB2-BD59-A6C34878D82A}">
                    <a16:rowId xmlns:a16="http://schemas.microsoft.com/office/drawing/2014/main" val="1112564745"/>
                  </a:ext>
                </a:extLst>
              </a:tr>
              <a:tr h="615102">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Video Modules</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Online video learning support</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Easy understanding</a:t>
                      </a:r>
                    </a:p>
                  </a:txBody>
                  <a:tcPr marL="121920" marT="76200" marB="76200" anchor="ctr"/>
                </a:tc>
                <a:extLst>
                  <a:ext uri="{0D108BD9-81ED-4DB2-BD59-A6C34878D82A}">
                    <a16:rowId xmlns:a16="http://schemas.microsoft.com/office/drawing/2014/main" val="662712279"/>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Quiz System</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Conducts quizzes and auto-grading</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Knowledge evaluation</a:t>
                      </a:r>
                    </a:p>
                  </a:txBody>
                  <a:tcPr marL="121920" marT="76200" marB="76200" anchor="ctr"/>
                </a:tc>
                <a:extLst>
                  <a:ext uri="{0D108BD9-81ED-4DB2-BD59-A6C34878D82A}">
                    <a16:rowId xmlns:a16="http://schemas.microsoft.com/office/drawing/2014/main" val="2467911388"/>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MySQL Database</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Stores user, course, and quiz data</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Efficient data management</a:t>
                      </a:r>
                    </a:p>
                  </a:txBody>
                  <a:tcPr marL="121920" marT="76200" marB="76200" anchor="ctr"/>
                </a:tc>
                <a:extLst>
                  <a:ext uri="{0D108BD9-81ED-4DB2-BD59-A6C34878D82A}">
                    <a16:rowId xmlns:a16="http://schemas.microsoft.com/office/drawing/2014/main" val="4072978274"/>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REST APIs</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Connects frontend and backend</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Smooth communication</a:t>
                      </a:r>
                    </a:p>
                  </a:txBody>
                  <a:tcPr marL="121920" marT="76200" marB="76200" anchor="ctr"/>
                </a:tc>
                <a:extLst>
                  <a:ext uri="{0D108BD9-81ED-4DB2-BD59-A6C34878D82A}">
                    <a16:rowId xmlns:a16="http://schemas.microsoft.com/office/drawing/2014/main" val="1741140651"/>
                  </a:ext>
                </a:extLst>
              </a:tr>
              <a:tr h="592190">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Responsive Design</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Supports desktop, tablet, mobile</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Better accessibility</a:t>
                      </a:r>
                    </a:p>
                  </a:txBody>
                  <a:tcPr marL="121920" marT="76200" marB="76200" anchor="ctr"/>
                </a:tc>
                <a:extLst>
                  <a:ext uri="{0D108BD9-81ED-4DB2-BD59-A6C34878D82A}">
                    <a16:rowId xmlns:a16="http://schemas.microsoft.com/office/drawing/2014/main" val="1859971798"/>
                  </a:ext>
                </a:extLst>
              </a:tr>
              <a:tr h="592190">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Course Management</a:t>
                      </a:r>
                    </a:p>
                  </a:txBody>
                  <a:tcPr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Create, edit, delete courses</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Structured learning</a:t>
                      </a:r>
                    </a:p>
                  </a:txBody>
                  <a:tcPr marL="121920" marT="76200" marB="76200" anchor="ctr"/>
                </a:tc>
                <a:extLst>
                  <a:ext uri="{0D108BD9-81ED-4DB2-BD59-A6C34878D82A}">
                    <a16:rowId xmlns:a16="http://schemas.microsoft.com/office/drawing/2014/main" val="4279287870"/>
                  </a:ext>
                </a:extLst>
              </a:tr>
              <a:tr h="676788">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Deployment</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Hosted on Verel and Render</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Live accessibility</a:t>
                      </a:r>
                    </a:p>
                  </a:txBody>
                  <a:tcPr marL="121920" marT="76200" marB="76200" anchor="ctr"/>
                </a:tc>
                <a:extLst>
                  <a:ext uri="{0D108BD9-81ED-4DB2-BD59-A6C34878D82A}">
                    <a16:rowId xmlns:a16="http://schemas.microsoft.com/office/drawing/2014/main" val="1129753975"/>
                  </a:ext>
                </a:extLst>
              </a:tr>
              <a:tr h="674966">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Performance</a:t>
                      </a:r>
                    </a:p>
                  </a:txBody>
                  <a:tcPr marR="121920" marT="76200" marB="76200" anchor="ctr"/>
                </a:tc>
                <a:tc>
                  <a:txBody>
                    <a:bodyPr/>
                    <a:lstStyle/>
                    <a:p>
                      <a:pPr>
                        <a:lnSpc>
                          <a:spcPts val="1875"/>
                        </a:lnSpc>
                        <a:buNone/>
                      </a:pPr>
                      <a:r>
                        <a:rPr lang="en-US" sz="2800" b="0" dirty="0">
                          <a:effectLst/>
                          <a:latin typeface="Times New Roman" panose="02020603050405020304" pitchFamily="18" charset="0"/>
                          <a:cs typeface="Times New Roman" panose="02020603050405020304" pitchFamily="18" charset="0"/>
                        </a:rPr>
                        <a:t>Fast loading and smooth navigation</a:t>
                      </a:r>
                    </a:p>
                  </a:txBody>
                  <a:tcPr marL="121920" marR="121920" marT="76200" marB="76200" anchor="ctr"/>
                </a:tc>
                <a:tc>
                  <a:txBody>
                    <a:bodyPr/>
                    <a:lstStyle/>
                    <a:p>
                      <a:pPr>
                        <a:lnSpc>
                          <a:spcPts val="1875"/>
                        </a:lnSpc>
                        <a:buNone/>
                      </a:pPr>
                      <a:r>
                        <a:rPr lang="en-IN" sz="2800" b="0" dirty="0">
                          <a:effectLst/>
                          <a:latin typeface="Times New Roman" panose="02020603050405020304" pitchFamily="18" charset="0"/>
                          <a:cs typeface="Times New Roman" panose="02020603050405020304" pitchFamily="18" charset="0"/>
                        </a:rPr>
                        <a:t>Improved efficiency</a:t>
                      </a:r>
                    </a:p>
                  </a:txBody>
                  <a:tcPr marL="121920" marT="76200" marB="76200" anchor="ctr"/>
                </a:tc>
                <a:extLst>
                  <a:ext uri="{0D108BD9-81ED-4DB2-BD59-A6C34878D82A}">
                    <a16:rowId xmlns:a16="http://schemas.microsoft.com/office/drawing/2014/main" val="3539501797"/>
                  </a:ext>
                </a:extLst>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7149120" y="212089"/>
            <a:ext cx="4046437"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Discussion</a:t>
            </a:r>
          </a:p>
        </p:txBody>
      </p:sp>
      <p:sp>
        <p:nvSpPr>
          <p:cNvPr id="3" name="TextBox 3"/>
          <p:cNvSpPr txBox="1"/>
          <p:nvPr/>
        </p:nvSpPr>
        <p:spPr>
          <a:xfrm>
            <a:off x="609600" y="985417"/>
            <a:ext cx="17485168" cy="8971174"/>
          </a:xfrm>
          <a:prstGeom prst="rect">
            <a:avLst/>
          </a:prstGeom>
        </p:spPr>
        <p:txBody>
          <a:bodyPr lIns="0" tIns="0" rIns="0" bIns="0" rtlCol="0" anchor="t">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project successfully combines frontend, backend, and database technologies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React.js helped in creating reusable and responsive UI components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Node.js and Express.js improved backend API development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provided reliable and efficient data management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JWT authentication improved system security and user protection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Video learning modules enhanced interactive learning experience</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Quiz functionality helped in student knowledge assessment</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Responsive design improved accessibility across all devices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REST APIs ensured smooth communication between frontend and backend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Deployment using Verel and Render improved online accessibility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application provides a scalable foundation for future enhancements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UI/UX design improved navigation and user interaction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Database integration helped manage users, courses, and quiz data efficiently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demonstrates real-world implementation of full-stack web development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332443" y="208707"/>
            <a:ext cx="6273523" cy="819993"/>
          </a:xfrm>
          <a:prstGeom prst="rect">
            <a:avLst/>
          </a:prstGeom>
        </p:spPr>
        <p:txBody>
          <a:bodyPr lIns="0" tIns="0" rIns="0" bIns="0" rtlCol="0" anchor="t">
            <a:spAutoFit/>
          </a:bodyPr>
          <a:lstStyle/>
          <a:p>
            <a:pPr algn="ctr">
              <a:lnSpc>
                <a:spcPts val="6559"/>
              </a:lnSpc>
              <a:spcBef>
                <a:spcPct val="0"/>
              </a:spcBef>
            </a:pPr>
            <a:r>
              <a:rPr lang="en-US" sz="4685" b="1" dirty="0">
                <a:solidFill>
                  <a:srgbClr val="000000"/>
                </a:solidFill>
                <a:latin typeface="Times New Roman Bold"/>
                <a:ea typeface="Times New Roman Bold"/>
                <a:cs typeface="Times New Roman Bold"/>
                <a:sym typeface="Times New Roman Bold"/>
              </a:rPr>
              <a:t>Feasibility Study</a:t>
            </a:r>
          </a:p>
        </p:txBody>
      </p:sp>
      <p:sp>
        <p:nvSpPr>
          <p:cNvPr id="3" name="TextBox 3"/>
          <p:cNvSpPr txBox="1"/>
          <p:nvPr/>
        </p:nvSpPr>
        <p:spPr>
          <a:xfrm>
            <a:off x="678379" y="988002"/>
            <a:ext cx="16580921" cy="8486426"/>
          </a:xfrm>
          <a:prstGeom prst="rect">
            <a:avLst/>
          </a:prstGeom>
        </p:spPr>
        <p:txBody>
          <a:bodyPr lIns="0" tIns="0" rIns="0" bIns="0" rtlCol="0" anchor="t">
            <a:spAutoFit/>
          </a:bodyPr>
          <a:lstStyle/>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project is technically feasible using React.js, Node.js, Express.js, and MySQL technologies</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React.js provides efficient frontend development support</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Node.js and Express.js enable smooth backend API creation</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supports reliable and secure database management</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Open-source technologies reduce overall development cost</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Free hosting platforms like Verel and Render improve economic feasibility</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is easy to operate and user-friendly</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Responsive design ensures accessibility across multiple devices</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project can be completed within the planned development timeline</a:t>
            </a:r>
          </a:p>
          <a:p>
            <a:pPr marL="457200" indent="-4572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application supports future scalability and feature enhancements</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5372381" y="212089"/>
            <a:ext cx="5644535"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Workflow</a:t>
            </a:r>
          </a:p>
        </p:txBody>
      </p:sp>
      <p:sp>
        <p:nvSpPr>
          <p:cNvPr id="4" name="TextBox 4"/>
          <p:cNvSpPr txBox="1"/>
          <p:nvPr/>
        </p:nvSpPr>
        <p:spPr>
          <a:xfrm>
            <a:off x="6164920" y="1620031"/>
            <a:ext cx="12123080" cy="9910405"/>
          </a:xfrm>
          <a:prstGeom prst="rect">
            <a:avLst/>
          </a:prstGeom>
        </p:spPr>
        <p:txBody>
          <a:bodyPr lIns="0" tIns="0" rIns="0" bIns="0" rtlCol="0" anchor="t">
            <a:spAutoFit/>
          </a:bodyPr>
          <a:lstStyle/>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opens the Learn Hub application</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registers or logs into the system</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Authentication is verified using JWT</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Dashboard is displayed after successful login based on role (Student/Instructor/Admin)</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accesses courses, videos, and quizzes</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Frontend sends API requests to backend server</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Backend processes requests using Node.js and Express.js</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stores and retrieves user, course, and quiz data</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Quiz results and learning progress are updated</a:t>
            </a:r>
          </a:p>
          <a:p>
            <a:pPr marL="285750" indent="-28575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receives smooth and responsive learning experience</a:t>
            </a:r>
          </a:p>
          <a:p>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6" name="Picture 5">
            <a:extLst>
              <a:ext uri="{FF2B5EF4-FFF2-40B4-BE49-F238E27FC236}">
                <a16:creationId xmlns:a16="http://schemas.microsoft.com/office/drawing/2014/main" id="{CB8ADA17-9AD2-814D-8115-E12D3D071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043982"/>
            <a:ext cx="5486400" cy="903092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3370373" y="212089"/>
            <a:ext cx="10527056"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Methods and Techniques Used</a:t>
            </a:r>
          </a:p>
        </p:txBody>
      </p:sp>
      <p:sp>
        <p:nvSpPr>
          <p:cNvPr id="3" name="TextBox 3"/>
          <p:cNvSpPr txBox="1"/>
          <p:nvPr/>
        </p:nvSpPr>
        <p:spPr>
          <a:xfrm>
            <a:off x="396744" y="1103737"/>
            <a:ext cx="17891256" cy="8486426"/>
          </a:xfrm>
          <a:prstGeom prst="rect">
            <a:avLst/>
          </a:prstGeom>
        </p:spPr>
        <p:txBody>
          <a:bodyPr lIns="0" tIns="0" rIns="0" bIns="0" rtlCol="0" anchor="t">
            <a:spAutoFit/>
          </a:bodyPr>
          <a:lstStyle/>
          <a:p>
            <a:pPr>
              <a:lnSpc>
                <a:spcPct val="200000"/>
              </a:lnSpc>
            </a:pPr>
            <a:r>
              <a:rPr lang="en-US" sz="2800" dirty="0">
                <a:latin typeface="Times New Roman" panose="02020603050405020304" pitchFamily="18" charset="0"/>
                <a:cs typeface="Times New Roman" panose="02020603050405020304" pitchFamily="18" charset="0"/>
              </a:rPr>
              <a:t>The workflow of the </a:t>
            </a:r>
            <a:r>
              <a:rPr lang="en-US" sz="2800" b="1" dirty="0">
                <a:latin typeface="Times New Roman" panose="02020603050405020304" pitchFamily="18" charset="0"/>
                <a:cs typeface="Times New Roman" panose="02020603050405020304" pitchFamily="18" charset="0"/>
              </a:rPr>
              <a:t>Learn Hub</a:t>
            </a:r>
            <a:r>
              <a:rPr lang="en-US" sz="2800" dirty="0">
                <a:latin typeface="Times New Roman" panose="02020603050405020304" pitchFamily="18" charset="0"/>
                <a:cs typeface="Times New Roman" panose="02020603050405020304" pitchFamily="18" charset="0"/>
              </a:rPr>
              <a:t> application starts when the user opens the application and performs registration or login using secure authentication. After successful JWT verification, the system grants access to the dashboard where users can explore courses, watch educational videos, attempt quizzes, track their learning progress, chat with instructors, and manage their courses.</a:t>
            </a:r>
          </a:p>
          <a:p>
            <a:pPr>
              <a:lnSpc>
                <a:spcPct val="200000"/>
              </a:lnSpc>
            </a:pPr>
            <a:r>
              <a:rPr lang="en-US" sz="2800" dirty="0">
                <a:latin typeface="Times New Roman" panose="02020603050405020304" pitchFamily="18" charset="0"/>
                <a:cs typeface="Times New Roman" panose="02020603050405020304" pitchFamily="18" charset="0"/>
              </a:rPr>
              <a:t>The frontend interface developed using </a:t>
            </a:r>
            <a:r>
              <a:rPr lang="en-US" sz="2800" b="1" dirty="0">
                <a:latin typeface="Times New Roman" panose="02020603050405020304" pitchFamily="18" charset="0"/>
                <a:cs typeface="Times New Roman" panose="02020603050405020304" pitchFamily="18" charset="0"/>
              </a:rPr>
              <a:t>React.js and Tailwind CSS</a:t>
            </a:r>
            <a:r>
              <a:rPr lang="en-US" sz="2800" dirty="0">
                <a:latin typeface="Times New Roman" panose="02020603050405020304" pitchFamily="18" charset="0"/>
                <a:cs typeface="Times New Roman" panose="02020603050405020304" pitchFamily="18" charset="0"/>
              </a:rPr>
              <a:t> sends API requests to the backend server created with </a:t>
            </a:r>
            <a:r>
              <a:rPr lang="en-US" sz="2800" b="1" dirty="0">
                <a:latin typeface="Times New Roman" panose="02020603050405020304" pitchFamily="18" charset="0"/>
                <a:cs typeface="Times New Roman" panose="02020603050405020304" pitchFamily="18" charset="0"/>
              </a:rPr>
              <a:t>Node.js and Express.js</a:t>
            </a:r>
            <a:r>
              <a:rPr lang="en-US" sz="2800" dirty="0">
                <a:latin typeface="Times New Roman" panose="02020603050405020304" pitchFamily="18" charset="0"/>
                <a:cs typeface="Times New Roman" panose="02020603050405020304" pitchFamily="18" charset="0"/>
              </a:rPr>
              <a:t>. The backend processes user requests, handles authentication, manages course data, processes payments, enables real-time chat, and communicates with the MySQL database.</a:t>
            </a:r>
          </a:p>
          <a:p>
            <a:pPr>
              <a:lnSpc>
                <a:spcPct val="200000"/>
              </a:lnSpc>
            </a:pPr>
            <a:r>
              <a:rPr lang="en-US" sz="2800" b="1" dirty="0">
                <a:latin typeface="Times New Roman" panose="02020603050405020304" pitchFamily="18" charset="0"/>
                <a:cs typeface="Times New Roman" panose="02020603050405020304" pitchFamily="18" charset="0"/>
              </a:rPr>
              <a:t>MySQL</a:t>
            </a:r>
            <a:r>
              <a:rPr lang="en-US" sz="2800" dirty="0">
                <a:latin typeface="Times New Roman" panose="02020603050405020304" pitchFamily="18" charset="0"/>
                <a:cs typeface="Times New Roman" panose="02020603050405020304" pitchFamily="18" charset="0"/>
              </a:rPr>
              <a:t> stores important information such as user details, course content, video modules, quiz scores and progress records. The system ensures smooth communication between frontend and backend through REST APIs, providing fast performance, secure access, and responsive user experience across all devices.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5903757" y="213599"/>
            <a:ext cx="6855503" cy="815101"/>
          </a:xfrm>
          <a:prstGeom prst="rect">
            <a:avLst/>
          </a:prstGeom>
        </p:spPr>
        <p:txBody>
          <a:bodyPr lIns="0" tIns="0" rIns="0" bIns="0" rtlCol="0" anchor="t">
            <a:spAutoFit/>
          </a:bodyPr>
          <a:lstStyle/>
          <a:p>
            <a:pPr algn="ctr">
              <a:lnSpc>
                <a:spcPts val="6514"/>
              </a:lnSpc>
              <a:spcBef>
                <a:spcPct val="0"/>
              </a:spcBef>
            </a:pPr>
            <a:r>
              <a:rPr lang="en-US" sz="4653" b="1" dirty="0">
                <a:solidFill>
                  <a:srgbClr val="000000"/>
                </a:solidFill>
                <a:latin typeface="Times New Roman Bold"/>
                <a:ea typeface="Times New Roman Bold"/>
                <a:cs typeface="Times New Roman Bold"/>
                <a:sym typeface="Times New Roman Bold"/>
              </a:rPr>
              <a:t>Progress in Project</a:t>
            </a:r>
          </a:p>
        </p:txBody>
      </p:sp>
      <p:sp>
        <p:nvSpPr>
          <p:cNvPr id="3" name="TextBox 3"/>
          <p:cNvSpPr txBox="1"/>
          <p:nvPr/>
        </p:nvSpPr>
        <p:spPr>
          <a:xfrm>
            <a:off x="587259" y="1129696"/>
            <a:ext cx="15269723" cy="8324843"/>
          </a:xfrm>
          <a:prstGeom prst="rect">
            <a:avLst/>
          </a:prstGeom>
        </p:spPr>
        <p:txBody>
          <a:bodyPr lIns="0" tIns="0" rIns="0" bIns="0" rtlCol="0" anchor="t">
            <a:spAutoFit/>
          </a:bodyPr>
          <a:lstStyle/>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Requirement analysis and project planning completed</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Designed the UI layout and overall workflow of the application</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Created responsive frontend using React.js and Tailwind CSS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Developed login and registration modules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Implemented JWT authentication for secure access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Created dashboards for Students, Instructors, and Admins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Developed backend APIs using Node.js and Express.js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Integrated MySQL database for data storage</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Added video learning and quiz functionalities</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Tested responsiveness, APIs, and database operations successfully</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Deployed frontend on Verel platform</a:t>
            </a:r>
          </a:p>
          <a:p>
            <a:pPr marL="457200" indent="-457200">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Deployed backend on Render platform</a:t>
            </a:r>
          </a:p>
          <a:p>
            <a:pPr>
              <a:lnSpc>
                <a:spcPct val="150000"/>
              </a:lnSpc>
            </a:pP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6053165" y="212089"/>
            <a:ext cx="4453001"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Results</a:t>
            </a:r>
          </a:p>
        </p:txBody>
      </p:sp>
      <p:sp>
        <p:nvSpPr>
          <p:cNvPr id="4" name="TextBox 4"/>
          <p:cNvSpPr txBox="1"/>
          <p:nvPr/>
        </p:nvSpPr>
        <p:spPr>
          <a:xfrm>
            <a:off x="1021594" y="1137675"/>
            <a:ext cx="2434081" cy="582930"/>
          </a:xfrm>
          <a:prstGeom prst="rect">
            <a:avLst/>
          </a:prstGeom>
        </p:spPr>
        <p:txBody>
          <a:bodyPr lIns="0" tIns="0" rIns="0" bIns="0" rtlCol="0" anchor="t">
            <a:spAutoFit/>
          </a:bodyPr>
          <a:lstStyle/>
          <a:p>
            <a:pPr algn="l">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Home page</a:t>
            </a:r>
          </a:p>
        </p:txBody>
      </p:sp>
      <p:sp>
        <p:nvSpPr>
          <p:cNvPr id="5" name="TextBox 5"/>
          <p:cNvSpPr txBox="1"/>
          <p:nvPr/>
        </p:nvSpPr>
        <p:spPr>
          <a:xfrm>
            <a:off x="128467" y="7554935"/>
            <a:ext cx="18031067" cy="2642518"/>
          </a:xfrm>
          <a:prstGeom prst="rect">
            <a:avLst/>
          </a:prstGeom>
        </p:spPr>
        <p:txBody>
          <a:bodyPr lIns="0" tIns="0" rIns="0" bIns="0" rtlCol="0" anchor="t">
            <a:spAutoFit/>
          </a:bodyPr>
          <a:lstStyle/>
          <a:p>
            <a:pPr>
              <a:lnSpc>
                <a:spcPts val="4228"/>
              </a:lnSpc>
            </a:pPr>
            <a:r>
              <a:rPr lang="en-US" sz="2800" dirty="0">
                <a:latin typeface="Times New Roman" panose="02020603050405020304" pitchFamily="18" charset="0"/>
                <a:cs typeface="Times New Roman" panose="02020603050405020304" pitchFamily="18" charset="0"/>
              </a:rPr>
              <a:t>The Home Page is the landing page of the Learn Hub Learning Application. It provides an introduction to the platform with attractive UI design and highlights important features such as online courses, expert instructors, and interactive quizzes. Users can browse available courses and access the sign-in page easily. The responsive design ensures smooth accessibility across different devices.</a:t>
            </a:r>
            <a:br>
              <a:rPr lang="en-US" sz="2800" dirty="0">
                <a:latin typeface="Times New Roman" panose="02020603050405020304" pitchFamily="18" charset="0"/>
                <a:cs typeface="Times New Roman" panose="02020603050405020304" pitchFamily="18" charset="0"/>
              </a:rPr>
            </a:b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7" name="Picture 6">
            <a:extLst>
              <a:ext uri="{FF2B5EF4-FFF2-40B4-BE49-F238E27FC236}">
                <a16:creationId xmlns:a16="http://schemas.microsoft.com/office/drawing/2014/main" id="{E25C9244-E3E7-0829-A520-594925FD7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2457" y="1866900"/>
            <a:ext cx="15685633" cy="548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4" name="TextBox 4"/>
          <p:cNvSpPr txBox="1"/>
          <p:nvPr/>
        </p:nvSpPr>
        <p:spPr>
          <a:xfrm>
            <a:off x="3434529" y="445770"/>
            <a:ext cx="4142354" cy="582930"/>
          </a:xfrm>
          <a:prstGeom prst="rect">
            <a:avLst/>
          </a:prstGeom>
        </p:spPr>
        <p:txBody>
          <a:bodyPr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Registration Page</a:t>
            </a:r>
          </a:p>
        </p:txBody>
      </p:sp>
      <p:sp>
        <p:nvSpPr>
          <p:cNvPr id="5" name="TextBox 5"/>
          <p:cNvSpPr txBox="1"/>
          <p:nvPr/>
        </p:nvSpPr>
        <p:spPr>
          <a:xfrm>
            <a:off x="11103340" y="445770"/>
            <a:ext cx="2621437" cy="582930"/>
          </a:xfrm>
          <a:prstGeom prst="rect">
            <a:avLst/>
          </a:prstGeom>
        </p:spPr>
        <p:txBody>
          <a:bodyPr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Login Page</a:t>
            </a:r>
          </a:p>
        </p:txBody>
      </p:sp>
      <p:sp>
        <p:nvSpPr>
          <p:cNvPr id="6" name="TextBox 6"/>
          <p:cNvSpPr txBox="1"/>
          <p:nvPr/>
        </p:nvSpPr>
        <p:spPr>
          <a:xfrm>
            <a:off x="0" y="6992444"/>
            <a:ext cx="18288000" cy="3107389"/>
          </a:xfrm>
          <a:prstGeom prst="rect">
            <a:avLst/>
          </a:prstGeom>
        </p:spPr>
        <p:txBody>
          <a:bodyPr lIns="0" tIns="0" rIns="0" bIns="0" rtlCol="0" anchor="t">
            <a:spAutoFit/>
          </a:bodyPr>
          <a:lstStyle/>
          <a:p>
            <a:pPr>
              <a:lnSpc>
                <a:spcPts val="4134"/>
              </a:lnSpc>
            </a:pPr>
            <a:r>
              <a:rPr lang="en-US" sz="2800" dirty="0">
                <a:latin typeface="Times New Roman" panose="02020603050405020304" pitchFamily="18" charset="0"/>
                <a:cs typeface="Times New Roman" panose="02020603050405020304" pitchFamily="18" charset="0"/>
              </a:rPr>
              <a:t>The Registration Page allows new users to create an account on the Learn Hub platform. Users can register by entering their name, email address, password, and selecting their role as Student or Instructor. The system validates all inputs and securely stores user information in the MySQL database after password encryption using crypt.</a:t>
            </a:r>
          </a:p>
          <a:p>
            <a:pPr>
              <a:lnSpc>
                <a:spcPts val="4134"/>
              </a:lnSpc>
            </a:pPr>
            <a:r>
              <a:rPr lang="en-US" sz="2800" dirty="0">
                <a:latin typeface="Times New Roman" panose="02020603050405020304" pitchFamily="18" charset="0"/>
                <a:cs typeface="Times New Roman" panose="02020603050405020304" pitchFamily="18" charset="0"/>
              </a:rPr>
              <a:t>The Login Page provides secure access to the Learn Hub platform. Registered users can log in using their email and password credentials. After successful JWT authentication, users are redirected to their respective dashboards based on their assigned roles (Student, Instructor, or Admin).</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8" name="Picture 7">
            <a:extLst>
              <a:ext uri="{FF2B5EF4-FFF2-40B4-BE49-F238E27FC236}">
                <a16:creationId xmlns:a16="http://schemas.microsoft.com/office/drawing/2014/main" id="{2E8DBFA9-9971-6E88-8ACB-CDFCDB5111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200" y="1552910"/>
            <a:ext cx="6211167" cy="5439534"/>
          </a:xfrm>
          <a:prstGeom prst="rect">
            <a:avLst/>
          </a:prstGeom>
        </p:spPr>
      </p:pic>
      <p:pic>
        <p:nvPicPr>
          <p:cNvPr id="10" name="Picture 9">
            <a:extLst>
              <a:ext uri="{FF2B5EF4-FFF2-40B4-BE49-F238E27FC236}">
                <a16:creationId xmlns:a16="http://schemas.microsoft.com/office/drawing/2014/main" id="{DD1E0608-38B3-863D-D8D4-37FB89E6BB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0400" y="1002891"/>
            <a:ext cx="6258798" cy="57408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419078" y="694373"/>
            <a:ext cx="5372122" cy="541623"/>
          </a:xfrm>
          <a:prstGeom prst="rect">
            <a:avLst/>
          </a:prstGeom>
        </p:spPr>
        <p:txBody>
          <a:bodyPr wrap="square"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Featured Courses Page</a:t>
            </a:r>
          </a:p>
        </p:txBody>
      </p:sp>
      <p:sp>
        <p:nvSpPr>
          <p:cNvPr id="4" name="TextBox 4"/>
          <p:cNvSpPr txBox="1"/>
          <p:nvPr/>
        </p:nvSpPr>
        <p:spPr>
          <a:xfrm>
            <a:off x="419078" y="7197090"/>
            <a:ext cx="17865629" cy="2453384"/>
          </a:xfrm>
          <a:prstGeom prst="rect">
            <a:avLst/>
          </a:prstGeom>
        </p:spPr>
        <p:txBody>
          <a:bodyPr lIns="0" tIns="0" rIns="0" bIns="0" rtlCol="0" anchor="t">
            <a:spAutoFit/>
          </a:bodyPr>
          <a:lstStyle/>
          <a:p>
            <a:pPr algn="l">
              <a:lnSpc>
                <a:spcPts val="6692"/>
              </a:lnSpc>
            </a:pPr>
            <a:r>
              <a:rPr lang="en-US" sz="2800" dirty="0">
                <a:solidFill>
                  <a:srgbClr val="000000"/>
                </a:solidFill>
                <a:latin typeface="Times New Roman"/>
                <a:ea typeface="Times New Roman"/>
                <a:cs typeface="Times New Roman"/>
                <a:sym typeface="Times New Roman"/>
              </a:rPr>
              <a:t>The Featured Courses section displays various technical and professional courses available on the platform. Each course card contains course title, description, pricing, and enrollment options. This section helps learners explore courses such as AI, Web Development, Machine Learning, SQL, and Android Development  etc...in an organized manner.</a:t>
            </a:r>
          </a:p>
        </p:txBody>
      </p:sp>
      <p:pic>
        <p:nvPicPr>
          <p:cNvPr id="6" name="Picture 5">
            <a:extLst>
              <a:ext uri="{FF2B5EF4-FFF2-40B4-BE49-F238E27FC236}">
                <a16:creationId xmlns:a16="http://schemas.microsoft.com/office/drawing/2014/main" id="{B07BA7F2-EDC7-7F42-E3E7-4D8A4B9A8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538450"/>
            <a:ext cx="15785128" cy="56586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1131309" y="596582"/>
            <a:ext cx="5421891" cy="542848"/>
          </a:xfrm>
          <a:prstGeom prst="rect">
            <a:avLst/>
          </a:prstGeom>
        </p:spPr>
        <p:txBody>
          <a:bodyPr wrap="square"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Admin Dashboard</a:t>
            </a:r>
          </a:p>
        </p:txBody>
      </p:sp>
      <p:sp>
        <p:nvSpPr>
          <p:cNvPr id="4" name="TextBox 4"/>
          <p:cNvSpPr txBox="1"/>
          <p:nvPr/>
        </p:nvSpPr>
        <p:spPr>
          <a:xfrm>
            <a:off x="152400" y="7886700"/>
            <a:ext cx="18288000" cy="1318438"/>
          </a:xfrm>
          <a:prstGeom prst="rect">
            <a:avLst/>
          </a:prstGeom>
        </p:spPr>
        <p:txBody>
          <a:bodyPr lIns="0" tIns="0" rIns="0" bIns="0" rtlCol="0" anchor="t">
            <a:spAutoFit/>
          </a:bodyPr>
          <a:lstStyle/>
          <a:p>
            <a:pPr>
              <a:lnSpc>
                <a:spcPts val="5544"/>
              </a:lnSpc>
            </a:pPr>
            <a:r>
              <a:rPr lang="en-US" sz="2800" dirty="0">
                <a:latin typeface="Times New Roman" panose="02020603050405020304" pitchFamily="18" charset="0"/>
                <a:cs typeface="Times New Roman" panose="02020603050405020304" pitchFamily="18" charset="0"/>
              </a:rPr>
              <a:t>The Admin Dashboard provides complete control over the learning platform. Admins can monitor total users, courses, students, and instructors. The dashboard also allows admins to approve or reject courses, manage categories, and view revenue reports.</a:t>
            </a: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6" name="Picture 5">
            <a:extLst>
              <a:ext uri="{FF2B5EF4-FFF2-40B4-BE49-F238E27FC236}">
                <a16:creationId xmlns:a16="http://schemas.microsoft.com/office/drawing/2014/main" id="{F1AC35A8-094A-EF6C-93A7-288598089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830" y="1485899"/>
            <a:ext cx="17128340" cy="640080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5" name="TextBox 5"/>
          <p:cNvSpPr txBox="1"/>
          <p:nvPr/>
        </p:nvSpPr>
        <p:spPr>
          <a:xfrm>
            <a:off x="349024" y="445769"/>
            <a:ext cx="6508976" cy="541623"/>
          </a:xfrm>
          <a:prstGeom prst="rect">
            <a:avLst/>
          </a:prstGeom>
        </p:spPr>
        <p:txBody>
          <a:bodyPr wrap="square"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Student Dashboard</a:t>
            </a:r>
          </a:p>
        </p:txBody>
      </p:sp>
      <p:pic>
        <p:nvPicPr>
          <p:cNvPr id="9" name="Picture 8">
            <a:extLst>
              <a:ext uri="{FF2B5EF4-FFF2-40B4-BE49-F238E27FC236}">
                <a16:creationId xmlns:a16="http://schemas.microsoft.com/office/drawing/2014/main" id="{AAF77965-17F9-22A4-2009-C1BA593216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063591"/>
            <a:ext cx="15293458" cy="5756309"/>
          </a:xfrm>
          <a:prstGeom prst="rect">
            <a:avLst/>
          </a:prstGeom>
        </p:spPr>
      </p:pic>
      <p:sp>
        <p:nvSpPr>
          <p:cNvPr id="12" name="TextBox 11">
            <a:extLst>
              <a:ext uri="{FF2B5EF4-FFF2-40B4-BE49-F238E27FC236}">
                <a16:creationId xmlns:a16="http://schemas.microsoft.com/office/drawing/2014/main" id="{0D8AB51F-9112-A562-5917-01E173003DC2}"/>
              </a:ext>
            </a:extLst>
          </p:cNvPr>
          <p:cNvSpPr txBox="1"/>
          <p:nvPr/>
        </p:nvSpPr>
        <p:spPr>
          <a:xfrm rot="10800000" flipH="1" flipV="1">
            <a:off x="1828800" y="7272920"/>
            <a:ext cx="15544800" cy="1859612"/>
          </a:xfrm>
          <a:prstGeom prst="rect">
            <a:avLst/>
          </a:prstGeom>
          <a:noFill/>
        </p:spPr>
        <p:txBody>
          <a:bodyPr wrap="square" rtlCol="0">
            <a:spAutoFit/>
          </a:bodyPr>
          <a:lstStyle/>
          <a:p>
            <a:pPr>
              <a:lnSpc>
                <a:spcPts val="3500"/>
              </a:lnSpc>
              <a:spcBef>
                <a:spcPct val="0"/>
              </a:spcBef>
            </a:pPr>
            <a:r>
              <a:rPr lang="en-US" sz="2800" dirty="0">
                <a:latin typeface="Times New Roman" panose="02020603050405020304" pitchFamily="18" charset="0"/>
                <a:cs typeface="Times New Roman" panose="02020603050405020304" pitchFamily="18" charset="0"/>
              </a:rPr>
              <a:t>The Student Dashboard provides a personalized learning environment where students can access enrolled courses, track learning progress, watch videos, attempt quizzes, and view their quiz scores. The dashboard also displays recommended courses based on AI algorithms.</a:t>
            </a:r>
            <a:br>
              <a:rPr lang="en-US" sz="2800" dirty="0">
                <a:latin typeface="Times New Roman" panose="02020603050405020304" pitchFamily="18" charset="0"/>
                <a:cs typeface="Times New Roman" panose="02020603050405020304" pitchFamily="18" charset="0"/>
              </a:rPr>
            </a:b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3" name="TextBox 3"/>
          <p:cNvSpPr txBox="1"/>
          <p:nvPr/>
        </p:nvSpPr>
        <p:spPr>
          <a:xfrm>
            <a:off x="-685800" y="386796"/>
            <a:ext cx="7564597" cy="582930"/>
          </a:xfrm>
          <a:prstGeom prst="rect">
            <a:avLst/>
          </a:prstGeom>
        </p:spPr>
        <p:txBody>
          <a:bodyPr lIns="0" tIns="0" rIns="0" bIns="0" rtlCol="0" anchor="t">
            <a:spAutoFit/>
          </a:bodyPr>
          <a:lstStyle/>
          <a:p>
            <a:pPr algn="ctr">
              <a:lnSpc>
                <a:spcPts val="4620"/>
              </a:lnSpc>
              <a:spcBef>
                <a:spcPct val="0"/>
              </a:spcBef>
            </a:pPr>
            <a:r>
              <a:rPr lang="en-US" sz="3300" b="1" dirty="0">
                <a:solidFill>
                  <a:srgbClr val="000000"/>
                </a:solidFill>
                <a:latin typeface="Times New Roman Bold"/>
                <a:ea typeface="Times New Roman Bold"/>
                <a:cs typeface="Times New Roman Bold"/>
                <a:sym typeface="Times New Roman Bold"/>
              </a:rPr>
              <a:t>Instructor Course Management</a:t>
            </a:r>
          </a:p>
        </p:txBody>
      </p:sp>
      <p:sp>
        <p:nvSpPr>
          <p:cNvPr id="5" name="TextBox 5"/>
          <p:cNvSpPr txBox="1"/>
          <p:nvPr/>
        </p:nvSpPr>
        <p:spPr>
          <a:xfrm>
            <a:off x="381000" y="8233249"/>
            <a:ext cx="17068800" cy="1815369"/>
          </a:xfrm>
          <a:prstGeom prst="rect">
            <a:avLst/>
          </a:prstGeom>
        </p:spPr>
        <p:txBody>
          <a:bodyPr wrap="square" lIns="0" tIns="0" rIns="0" bIns="0" rtlCol="0" anchor="t">
            <a:spAutoFit/>
          </a:bodyPr>
          <a:lstStyle/>
          <a:p>
            <a:pPr>
              <a:lnSpc>
                <a:spcPts val="3640"/>
              </a:lnSpc>
              <a:spcBef>
                <a:spcPct val="0"/>
              </a:spcBef>
            </a:pPr>
            <a:r>
              <a:rPr lang="en-US" sz="2800" dirty="0">
                <a:latin typeface="Times New Roman" panose="02020603050405020304" pitchFamily="18" charset="0"/>
                <a:cs typeface="Times New Roman" panose="02020603050405020304" pitchFamily="18" charset="0"/>
              </a:rPr>
              <a:t>The Instructor Dashboard allows instructors to create and manage courses. Instructors can add course titles, descriptions, pricing details, upload thumbnails, add video lessons, and create quizzes. Instructors can also view enrolled students and their performance.</a:t>
            </a:r>
            <a:br>
              <a:rPr lang="en-US" sz="2800" dirty="0">
                <a:latin typeface="Times New Roman" panose="02020603050405020304" pitchFamily="18" charset="0"/>
                <a:cs typeface="Times New Roman" panose="02020603050405020304" pitchFamily="18" charset="0"/>
              </a:rPr>
            </a:b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pic>
        <p:nvPicPr>
          <p:cNvPr id="7" name="Picture 6">
            <a:extLst>
              <a:ext uri="{FF2B5EF4-FFF2-40B4-BE49-F238E27FC236}">
                <a16:creationId xmlns:a16="http://schemas.microsoft.com/office/drawing/2014/main" id="{FD02AFAE-2E85-F7CF-3C69-E160C38CA6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013836"/>
            <a:ext cx="16251918" cy="672046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6974608" y="407670"/>
            <a:ext cx="3217621" cy="816611"/>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Conclusion</a:t>
            </a:r>
          </a:p>
        </p:txBody>
      </p:sp>
      <p:sp>
        <p:nvSpPr>
          <p:cNvPr id="3" name="TextBox 3"/>
          <p:cNvSpPr txBox="1"/>
          <p:nvPr/>
        </p:nvSpPr>
        <p:spPr>
          <a:xfrm>
            <a:off x="1168845" y="2209061"/>
            <a:ext cx="16259915" cy="6385851"/>
          </a:xfrm>
          <a:prstGeom prst="rect">
            <a:avLst/>
          </a:prstGeom>
        </p:spPr>
        <p:txBody>
          <a:bodyPr lIns="0" tIns="0" rIns="0" bIns="0" rtlCol="0" anchor="t">
            <a:spAutoFit/>
          </a:bodyPr>
          <a:lstStyle/>
          <a:p>
            <a:pPr>
              <a:lnSpc>
                <a:spcPct val="150000"/>
              </a:lnSpc>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Learn Hub</a:t>
            </a:r>
            <a:r>
              <a:rPr lang="en-US" sz="2800" dirty="0">
                <a:latin typeface="Times New Roman" panose="02020603050405020304" pitchFamily="18" charset="0"/>
                <a:cs typeface="Times New Roman" panose="02020603050405020304" pitchFamily="18" charset="0"/>
              </a:rPr>
              <a:t> Learning Application successfully provides a responsive and secure online learning platform developed using React.js, Node.js, Express.js, and MySQL stack technologies. The project integrates features such as user authentication, course management, video learning, quizzes into a single system.</a:t>
            </a:r>
          </a:p>
          <a:p>
            <a:pPr>
              <a:lnSpc>
                <a:spcPct val="150000"/>
              </a:lnSpc>
            </a:pPr>
            <a:r>
              <a:rPr lang="en-US" sz="2800" dirty="0">
                <a:latin typeface="Times New Roman" panose="02020603050405020304" pitchFamily="18" charset="0"/>
                <a:cs typeface="Times New Roman" panose="02020603050405020304" pitchFamily="18" charset="0"/>
              </a:rPr>
              <a:t>The application improves accessibility and provides a smooth learning experience through an interactive and user-friendly interface. It also enhanced practical understanding of frontend development, backend integration, database management, API communication, real-time features and deployment processes.</a:t>
            </a:r>
          </a:p>
          <a:p>
            <a:pPr>
              <a:lnSpc>
                <a:spcPct val="150000"/>
              </a:lnSpc>
            </a:pPr>
            <a:r>
              <a:rPr lang="en-US" sz="2800" dirty="0">
                <a:latin typeface="Times New Roman" panose="02020603050405020304" pitchFamily="18" charset="0"/>
                <a:cs typeface="Times New Roman" panose="02020603050405020304" pitchFamily="18" charset="0"/>
              </a:rPr>
              <a:t>Overall, the project demonstrates effective implementation of full-stack web development concepts and supports future enhancements for advanced online learning systems.</a:t>
            </a:r>
          </a:p>
          <a:p>
            <a:pPr>
              <a:lnSpc>
                <a:spcPct val="150000"/>
              </a:lnSpc>
            </a:pPr>
            <a:br>
              <a:rPr lang="en-US" sz="2800" dirty="0">
                <a:latin typeface="Times New Roman" panose="02020603050405020304" pitchFamily="18" charset="0"/>
                <a:cs typeface="Times New Roman" panose="02020603050405020304" pitchFamily="18" charset="0"/>
              </a:rPr>
            </a:br>
            <a:endParaRPr lang="en-US" sz="28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7109814" y="48587"/>
            <a:ext cx="3764723" cy="816610"/>
          </a:xfrm>
          <a:prstGeom prst="rect">
            <a:avLst/>
          </a:prstGeom>
        </p:spPr>
        <p:txBody>
          <a:bodyPr lIns="0" tIns="0" rIns="0" bIns="0" rtlCol="0" anchor="t">
            <a:spAutoFit/>
          </a:bodyPr>
          <a:lstStyle/>
          <a:p>
            <a:pPr algn="ctr">
              <a:lnSpc>
                <a:spcPts val="6439"/>
              </a:lnSpc>
              <a:spcBef>
                <a:spcPct val="0"/>
              </a:spcBef>
            </a:pPr>
            <a:r>
              <a:rPr lang="en-US" sz="4599" b="1" dirty="0">
                <a:solidFill>
                  <a:srgbClr val="000000"/>
                </a:solidFill>
                <a:latin typeface="Times New Roman Bold"/>
                <a:ea typeface="Times New Roman Bold"/>
                <a:cs typeface="Times New Roman Bold"/>
                <a:sym typeface="Times New Roman Bold"/>
              </a:rPr>
              <a:t>References</a:t>
            </a:r>
          </a:p>
        </p:txBody>
      </p:sp>
      <p:sp>
        <p:nvSpPr>
          <p:cNvPr id="3" name="TextBox 3"/>
          <p:cNvSpPr txBox="1"/>
          <p:nvPr/>
        </p:nvSpPr>
        <p:spPr>
          <a:xfrm>
            <a:off x="308664" y="914400"/>
            <a:ext cx="16521550" cy="9479518"/>
          </a:xfrm>
          <a:prstGeom prst="rect">
            <a:avLst/>
          </a:prstGeom>
        </p:spPr>
        <p:txBody>
          <a:bodyPr lIns="0" tIns="0" rIns="0" bIns="0" rtlCol="0" anchor="t">
            <a:spAutoFit/>
          </a:bodyPr>
          <a:lstStyle/>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React Documentation</a:t>
            </a:r>
            <a:r>
              <a:rPr lang="en-US" sz="2800" dirty="0">
                <a:latin typeface="Times New Roman" panose="02020603050405020304" pitchFamily="18" charset="0"/>
                <a:cs typeface="Times New Roman" panose="02020603050405020304" pitchFamily="18" charset="0"/>
              </a:rPr>
              <a:t> – Used for developing responsive frontend components and managing the user interface.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2"/>
              </a:rPr>
              <a:t>https://react.dev</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Node.js Documentation</a:t>
            </a:r>
            <a:r>
              <a:rPr lang="en-US" sz="2800" dirty="0">
                <a:latin typeface="Times New Roman" panose="02020603050405020304" pitchFamily="18" charset="0"/>
                <a:cs typeface="Times New Roman" panose="02020603050405020304" pitchFamily="18" charset="0"/>
              </a:rPr>
              <a:t> – Referred for backend server development and API handling.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3"/>
              </a:rPr>
              <a:t>https://nodejs.org</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Express.js Documentation</a:t>
            </a:r>
            <a:r>
              <a:rPr lang="en-US" sz="2800" dirty="0">
                <a:latin typeface="Times New Roman" panose="02020603050405020304" pitchFamily="18" charset="0"/>
                <a:cs typeface="Times New Roman" panose="02020603050405020304" pitchFamily="18" charset="0"/>
              </a:rPr>
              <a:t> – Used for creating REST APIs and backend routing functionality.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4"/>
              </a:rPr>
              <a:t>https://expressjs.com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MySQL Documentation</a:t>
            </a:r>
            <a:r>
              <a:rPr lang="en-US" sz="2800" dirty="0">
                <a:latin typeface="Times New Roman" panose="02020603050405020304" pitchFamily="18" charset="0"/>
                <a:cs typeface="Times New Roman" panose="02020603050405020304" pitchFamily="18" charset="0"/>
              </a:rPr>
              <a:t> – Helped in database integration and data management.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5"/>
              </a:rPr>
              <a:t>https://dev.mysql.com/doc</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Tailwind CSS Documentation</a:t>
            </a:r>
            <a:r>
              <a:rPr lang="en-US" sz="2800" dirty="0">
                <a:latin typeface="Times New Roman" panose="02020603050405020304" pitchFamily="18" charset="0"/>
                <a:cs typeface="Times New Roman" panose="02020603050405020304" pitchFamily="18" charset="0"/>
              </a:rPr>
              <a:t> – Used for responsive UI design and frontend styling.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6"/>
              </a:rPr>
              <a:t>https://tailwindcss.com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W3Schools</a:t>
            </a:r>
            <a:r>
              <a:rPr lang="en-US" sz="2800" dirty="0">
                <a:latin typeface="Times New Roman" panose="02020603050405020304" pitchFamily="18" charset="0"/>
                <a:cs typeface="Times New Roman" panose="02020603050405020304" pitchFamily="18" charset="0"/>
              </a:rPr>
              <a:t> – Used for understanding frontend and backend development concepts with examples.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7"/>
              </a:rPr>
              <a:t>https://www.w3schools.com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Verel Documentation</a:t>
            </a:r>
            <a:r>
              <a:rPr lang="en-US" sz="2800" dirty="0">
                <a:latin typeface="Times New Roman" panose="02020603050405020304" pitchFamily="18" charset="0"/>
                <a:cs typeface="Times New Roman" panose="02020603050405020304" pitchFamily="18" charset="0"/>
              </a:rPr>
              <a:t> – Used for frontend deployment and hosting setup.</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8"/>
              </a:rPr>
              <a:t>https://vercel.com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Render Documentation</a:t>
            </a:r>
            <a:r>
              <a:rPr lang="en-US" sz="2800" dirty="0">
                <a:latin typeface="Times New Roman" panose="02020603050405020304" pitchFamily="18" charset="0"/>
                <a:cs typeface="Times New Roman" panose="02020603050405020304" pitchFamily="18" charset="0"/>
              </a:rPr>
              <a:t> – Used for backend deployment and server hosting.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9"/>
              </a:rPr>
              <a:t>https://render.com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GitHub Documentation</a:t>
            </a:r>
            <a:r>
              <a:rPr lang="en-US" sz="2800" dirty="0">
                <a:latin typeface="Times New Roman" panose="02020603050405020304" pitchFamily="18" charset="0"/>
                <a:cs typeface="Times New Roman" panose="02020603050405020304" pitchFamily="18" charset="0"/>
              </a:rPr>
              <a:t> – Used for version control and project management.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10"/>
              </a:rPr>
              <a:t>https://docs.github.com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Postman Documentation</a:t>
            </a:r>
            <a:r>
              <a:rPr lang="en-US" sz="2800" dirty="0">
                <a:latin typeface="Times New Roman" panose="02020603050405020304" pitchFamily="18" charset="0"/>
                <a:cs typeface="Times New Roman" panose="02020603050405020304" pitchFamily="18" charset="0"/>
              </a:rPr>
              <a:t> – Used for API testing and documentation.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11"/>
              </a:rPr>
              <a:t>https://learning.postman.com</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VS Code Documentation</a:t>
            </a:r>
            <a:r>
              <a:rPr lang="en-US" sz="2800" dirty="0">
                <a:latin typeface="Times New Roman" panose="02020603050405020304" pitchFamily="18" charset="0"/>
                <a:cs typeface="Times New Roman" panose="02020603050405020304" pitchFamily="18" charset="0"/>
              </a:rPr>
              <a:t> – Used as the primary IDE for development.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Link: </a:t>
            </a:r>
            <a:r>
              <a:rPr lang="en-US" sz="2800" dirty="0">
                <a:latin typeface="Times New Roman" panose="02020603050405020304" pitchFamily="18" charset="0"/>
                <a:cs typeface="Times New Roman" panose="02020603050405020304" pitchFamily="18" charset="0"/>
                <a:hlinkClick r:id="rId12"/>
              </a:rPr>
              <a:t>https://code.visualstudio.com/docs</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2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3124200" y="3260536"/>
            <a:ext cx="11811000" cy="1447512"/>
          </a:xfrm>
          <a:prstGeom prst="rect">
            <a:avLst/>
          </a:prstGeom>
        </p:spPr>
        <p:txBody>
          <a:bodyPr wrap="square" lIns="0" tIns="0" rIns="0" bIns="0" rtlCol="0" anchor="t">
            <a:spAutoFit/>
          </a:bodyPr>
          <a:lstStyle/>
          <a:p>
            <a:pPr algn="ctr">
              <a:lnSpc>
                <a:spcPts val="12319"/>
              </a:lnSpc>
              <a:spcBef>
                <a:spcPct val="0"/>
              </a:spcBef>
            </a:pPr>
            <a:r>
              <a:rPr lang="en-US" sz="8799" b="1" dirty="0">
                <a:solidFill>
                  <a:srgbClr val="000000"/>
                </a:solidFill>
                <a:latin typeface="Times New Roman Bold"/>
                <a:ea typeface="Times New Roman Bold"/>
                <a:cs typeface="Times New Roman Bold"/>
                <a:sym typeface="Times New Roman Bold"/>
              </a:rPr>
              <a:t>THANK YOU</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209</TotalTime>
  <Words>2570</Words>
  <Application>Microsoft Office PowerPoint</Application>
  <PresentationFormat>Custom</PresentationFormat>
  <Paragraphs>306</Paragraphs>
  <Slides>28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Times New Roman</vt:lpstr>
      <vt:lpstr>Arial</vt:lpstr>
      <vt:lpstr>Times New Roman Bold</vt:lpstr>
      <vt:lpstr>Century Gothic</vt:lpstr>
      <vt:lpstr>Calibri</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Computer Science and Engineering TG BANGALORE</dc:title>
  <dc:creator>Rakesh Poojary</dc:creator>
  <cp:lastModifiedBy>Ash Devadiga</cp:lastModifiedBy>
  <cp:revision>7</cp:revision>
  <dcterms:created xsi:type="dcterms:W3CDTF">2006-08-16T00:00:00Z</dcterms:created>
  <dcterms:modified xsi:type="dcterms:W3CDTF">2026-06-05T04:41:55Z</dcterms:modified>
  <dc:identifier>DAHJXw-lwII</dc:identifier>
</cp:coreProperties>
</file>